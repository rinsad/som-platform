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9" d="100"/>
          <a:sy n="89" d="100"/>
        </p:scale>
        <p:origin x="6"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578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457200"/>
          </a:xfrm>
          <a:prstGeom prst="rect">
            <a:avLst/>
          </a:prstGeom>
          <a:noFill/>
          <a:ln/>
        </p:spPr>
        <p:txBody>
          <a:bodyPr wrap="square" lIns="0" tIns="0" rIns="0" bIns="0" rtlCol="0" anchor="ctr"/>
          <a:lstStyle/>
          <a:p>
            <a:pPr marL="0" indent="0">
              <a:buNone/>
            </a:pPr>
            <a:r>
              <a:rPr lang="en-US" sz="1600" b="1" kern="0" spc="400" dirty="0">
                <a:solidFill>
                  <a:srgbClr val="FBCE07"/>
                </a:solidFill>
                <a:latin typeface="Calibri" pitchFamily="34" charset="0"/>
                <a:ea typeface="Calibri" pitchFamily="34" charset="-122"/>
                <a:cs typeface="Calibri" pitchFamily="34" charset="-120"/>
              </a:rPr>
              <a:t>SHELL OMAN MARKETING</a:t>
            </a:r>
            <a:endParaRPr lang="en-US" sz="1600" dirty="0"/>
          </a:p>
        </p:txBody>
      </p:sp>
      <p:sp>
        <p:nvSpPr>
          <p:cNvPr id="3" name="Text 1"/>
          <p:cNvSpPr/>
          <p:nvPr/>
        </p:nvSpPr>
        <p:spPr>
          <a:xfrm>
            <a:off x="822960" y="1920240"/>
            <a:ext cx="10515600" cy="1828800"/>
          </a:xfrm>
          <a:prstGeom prst="rect">
            <a:avLst/>
          </a:prstGeom>
          <a:noFill/>
          <a:ln/>
        </p:spPr>
        <p:txBody>
          <a:bodyPr wrap="square" lIns="0" tIns="0" rIns="0" bIns="0" rtlCol="0" anchor="ctr"/>
          <a:lstStyle/>
          <a:p>
            <a:pPr marL="0" indent="0">
              <a:buNone/>
            </a:pPr>
            <a:r>
              <a:rPr lang="en-US" sz="4200" dirty="0">
                <a:solidFill>
                  <a:srgbClr val="FFFFFF"/>
                </a:solidFill>
                <a:latin typeface="Georgia" pitchFamily="34" charset="0"/>
                <a:ea typeface="Georgia" pitchFamily="34" charset="-122"/>
                <a:cs typeface="Georgia" pitchFamily="34" charset="-120"/>
              </a:rPr>
              <a:t>Capex &amp; Purchase Request</a:t>
            </a:r>
            <a:endParaRPr lang="en-US" sz="4200" dirty="0"/>
          </a:p>
          <a:p>
            <a:pPr marL="0" indent="0">
              <a:buNone/>
            </a:pPr>
            <a:r>
              <a:rPr lang="en-US" sz="4200" dirty="0">
                <a:solidFill>
                  <a:srgbClr val="FFFFFF"/>
                </a:solidFill>
                <a:latin typeface="Georgia" pitchFamily="34" charset="0"/>
                <a:ea typeface="Georgia" pitchFamily="34" charset="-122"/>
                <a:cs typeface="Georgia" pitchFamily="34" charset="-120"/>
              </a:rPr>
              <a:t>End-to-End Process Map</a:t>
            </a:r>
            <a:endParaRPr lang="en-US" sz="4200" dirty="0"/>
          </a:p>
        </p:txBody>
      </p:sp>
      <p:sp>
        <p:nvSpPr>
          <p:cNvPr id="4" name="Text 2"/>
          <p:cNvSpPr/>
          <p:nvPr/>
        </p:nvSpPr>
        <p:spPr>
          <a:xfrm>
            <a:off x="822960" y="3977640"/>
            <a:ext cx="10515600" cy="457200"/>
          </a:xfrm>
          <a:prstGeom prst="rect">
            <a:avLst/>
          </a:prstGeom>
          <a:noFill/>
          <a:ln/>
        </p:spPr>
        <p:txBody>
          <a:bodyPr wrap="square" lIns="0" tIns="0" rIns="0" bIns="0" rtlCol="0" anchor="ctr"/>
          <a:lstStyle/>
          <a:p>
            <a:pPr marL="0" indent="0">
              <a:buNone/>
            </a:pPr>
            <a:r>
              <a:rPr lang="en-US" sz="1400" dirty="0">
                <a:solidFill>
                  <a:srgbClr val="CFCFCF"/>
                </a:solidFill>
                <a:latin typeface="Calibri" pitchFamily="34" charset="0"/>
                <a:ea typeface="Calibri" pitchFamily="34" charset="-122"/>
                <a:cs typeface="Calibri" pitchFamily="34" charset="-120"/>
              </a:rPr>
              <a:t>Budgeting  ·  Capex allocation &amp; approval  ·  Purchase request &amp; procurement  ·  Project execution &amp; tracking</a:t>
            </a:r>
            <a:endParaRPr lang="en-US" sz="1400" dirty="0"/>
          </a:p>
        </p:txBody>
      </p:sp>
      <p:sp>
        <p:nvSpPr>
          <p:cNvPr id="5" name="Text 3"/>
          <p:cNvSpPr/>
          <p:nvPr/>
        </p:nvSpPr>
        <p:spPr>
          <a:xfrm>
            <a:off x="822960" y="4480560"/>
            <a:ext cx="10515600" cy="365760"/>
          </a:xfrm>
          <a:prstGeom prst="rect">
            <a:avLst/>
          </a:prstGeom>
          <a:noFill/>
          <a:ln/>
        </p:spPr>
        <p:txBody>
          <a:bodyPr wrap="square" lIns="0" tIns="0" rIns="0" bIns="0" rtlCol="0" anchor="ctr"/>
          <a:lstStyle/>
          <a:p>
            <a:pPr marL="0" indent="0">
              <a:buNone/>
            </a:pPr>
            <a:r>
              <a:rPr lang="en-US" sz="1200" dirty="0">
                <a:solidFill>
                  <a:srgbClr val="9A9A92"/>
                </a:solidFill>
                <a:latin typeface="Calibri" pitchFamily="34" charset="0"/>
                <a:ea typeface="Calibri" pitchFamily="34" charset="-122"/>
                <a:cs typeface="Calibri" pitchFamily="34" charset="-120"/>
              </a:rPr>
              <a:t>Transcribed from discovery whiteboard session  ·  Integrated Enterprise Platform</a:t>
            </a:r>
            <a:endParaRPr lang="en-US" sz="12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marL="0" indent="0">
              <a:buNone/>
            </a:pPr>
            <a:r>
              <a:rPr lang="en-US" sz="1200" dirty="0">
                <a:solidFill>
                  <a:srgbClr val="CFCFCF"/>
                </a:solidFill>
                <a:latin typeface="Calibri" pitchFamily="34" charset="0"/>
                <a:ea typeface="Calibri" pitchFamily="34" charset="-122"/>
                <a:cs typeface="Calibri" pitchFamily="34" charset="-120"/>
              </a:rPr>
              <a:t>Prepared by </a:t>
            </a:r>
            <a:r>
              <a:rPr lang="en-US" sz="1200" b="1" dirty="0">
                <a:solidFill>
                  <a:srgbClr val="FBCE07"/>
                </a:solidFill>
                <a:latin typeface="Calibri" pitchFamily="34" charset="0"/>
                <a:ea typeface="Calibri" pitchFamily="34" charset="-122"/>
                <a:cs typeface="Calibri" pitchFamily="34" charset="-120"/>
              </a:rPr>
              <a:t>Ooredoo</a:t>
            </a:r>
            <a:r>
              <a:rPr lang="en-US" sz="1200" dirty="0">
                <a:solidFill>
                  <a:srgbClr val="CFCFCF"/>
                </a:solidFill>
                <a:latin typeface="Calibri" pitchFamily="34" charset="0"/>
                <a:ea typeface="Calibri" pitchFamily="34" charset="-122"/>
                <a:cs typeface="Calibri" pitchFamily="34" charset="-120"/>
              </a:rPr>
              <a:t>  ·  Digital Transformation Consultancy</a:t>
            </a:r>
            <a:endParaRPr lang="en-US" sz="1200" dirty="0"/>
          </a:p>
        </p:txBody>
      </p:sp>
      <p:sp>
        <p:nvSpPr>
          <p:cNvPr id="7" name="Shape 5"/>
          <p:cNvSpPr/>
          <p:nvPr/>
        </p:nvSpPr>
        <p:spPr>
          <a:xfrm>
            <a:off x="10607040" y="640080"/>
            <a:ext cx="822960" cy="822960"/>
          </a:xfrm>
          <a:prstGeom prst="ellipse">
            <a:avLst/>
          </a:prstGeom>
          <a:solidFill>
            <a:srgbClr val="DD1D21"/>
          </a:solidFill>
          <a:ln/>
        </p:spPr>
      </p:sp>
      <p:sp>
        <p:nvSpPr>
          <p:cNvPr id="8" name="Shape 6"/>
          <p:cNvSpPr/>
          <p:nvPr/>
        </p:nvSpPr>
        <p:spPr>
          <a:xfrm>
            <a:off x="10927080" y="1143000"/>
            <a:ext cx="502920" cy="502920"/>
          </a:xfrm>
          <a:prstGeom prst="ellipse">
            <a:avLst/>
          </a:prstGeom>
          <a:solidFill>
            <a:srgbClr val="FBCE07"/>
          </a:solidFill>
          <a:ln/>
        </p:spPr>
      </p:sp>
      <p:pic>
        <p:nvPicPr>
          <p:cNvPr id="10" name="Picture 9">
            <a:extLst>
              <a:ext uri="{FF2B5EF4-FFF2-40B4-BE49-F238E27FC236}">
                <a16:creationId xmlns:a16="http://schemas.microsoft.com/office/drawing/2014/main" id="{3DB9305A-3C06-EF07-BBB9-B4D28C6837B1}"/>
              </a:ext>
            </a:extLst>
          </p:cNvPr>
          <p:cNvPicPr>
            <a:picLocks noChangeAspect="1"/>
          </p:cNvPicPr>
          <p:nvPr/>
        </p:nvPicPr>
        <p:blipFill>
          <a:blip r:embed="rId3"/>
          <a:stretch>
            <a:fillRect/>
          </a:stretch>
        </p:blipFill>
        <p:spPr>
          <a:xfrm>
            <a:off x="822960" y="45720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2800" dirty="0">
                <a:solidFill>
                  <a:srgbClr val="2B2B2B"/>
                </a:solidFill>
                <a:latin typeface="Georgia" pitchFamily="34" charset="0"/>
                <a:ea typeface="Georgia" pitchFamily="34" charset="-122"/>
                <a:cs typeface="Georgia" pitchFamily="34" charset="-120"/>
              </a:rPr>
              <a:t>End-to-end process overview</a:t>
            </a:r>
            <a:endParaRPr lang="en-US" sz="2800" dirty="0"/>
          </a:p>
        </p:txBody>
      </p:sp>
      <p:sp>
        <p:nvSpPr>
          <p:cNvPr id="3" name="Text 1"/>
          <p:cNvSpPr/>
          <p:nvPr/>
        </p:nvSpPr>
        <p:spPr>
          <a:xfrm>
            <a:off x="566928" y="1051560"/>
            <a:ext cx="10972800" cy="36576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Four connected phases, from annual budget approval to project financial closure.</a:t>
            </a:r>
            <a:endParaRPr lang="en-US" sz="1200" dirty="0"/>
          </a:p>
        </p:txBody>
      </p:sp>
      <p:sp>
        <p:nvSpPr>
          <p:cNvPr id="4" name="Shape 2"/>
          <p:cNvSpPr/>
          <p:nvPr/>
        </p:nvSpPr>
        <p:spPr>
          <a:xfrm>
            <a:off x="457200" y="2011680"/>
            <a:ext cx="2606040" cy="3108960"/>
          </a:xfrm>
          <a:prstGeom prst="roundRect">
            <a:avLst>
              <a:gd name="adj" fmla="val 3158"/>
            </a:avLst>
          </a:prstGeom>
          <a:solidFill>
            <a:srgbClr val="FAFAF8"/>
          </a:solidFill>
          <a:ln w="12700">
            <a:solidFill>
              <a:srgbClr val="D9D9D9"/>
            </a:solidFill>
            <a:prstDash val="solid"/>
          </a:ln>
          <a:effectLst>
            <a:outerShdw blurRad="76200" dist="25400" dir="2700000" algn="bl" rotWithShape="0">
              <a:srgbClr val="000000">
                <a:alpha val="12000"/>
              </a:srgbClr>
            </a:outerShdw>
          </a:effectLst>
        </p:spPr>
      </p:sp>
      <p:sp>
        <p:nvSpPr>
          <p:cNvPr id="5" name="Text 3"/>
          <p:cNvSpPr/>
          <p:nvPr/>
        </p:nvSpPr>
        <p:spPr>
          <a:xfrm>
            <a:off x="685800" y="2240280"/>
            <a:ext cx="914400" cy="640080"/>
          </a:xfrm>
          <a:prstGeom prst="rect">
            <a:avLst/>
          </a:prstGeom>
          <a:noFill/>
          <a:ln/>
        </p:spPr>
        <p:txBody>
          <a:bodyPr wrap="square" lIns="0" tIns="0" rIns="0" bIns="0" rtlCol="0" anchor="ctr"/>
          <a:lstStyle/>
          <a:p>
            <a:pPr marL="0" indent="0">
              <a:buNone/>
            </a:pPr>
            <a:r>
              <a:rPr lang="en-US" sz="3400" dirty="0">
                <a:solidFill>
                  <a:srgbClr val="DD1D21"/>
                </a:solidFill>
                <a:latin typeface="Georgia" pitchFamily="34" charset="0"/>
                <a:ea typeface="Georgia" pitchFamily="34" charset="-122"/>
                <a:cs typeface="Georgia" pitchFamily="34" charset="-120"/>
              </a:rPr>
              <a:t>1</a:t>
            </a:r>
            <a:endParaRPr lang="en-US" sz="3400" dirty="0"/>
          </a:p>
        </p:txBody>
      </p:sp>
      <p:sp>
        <p:nvSpPr>
          <p:cNvPr id="6" name="Text 4"/>
          <p:cNvSpPr/>
          <p:nvPr/>
        </p:nvSpPr>
        <p:spPr>
          <a:xfrm>
            <a:off x="685800" y="2926080"/>
            <a:ext cx="2194560" cy="6858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Annual budgeting</a:t>
            </a:r>
            <a:endParaRPr lang="en-US" sz="1500" dirty="0"/>
          </a:p>
        </p:txBody>
      </p:sp>
      <p:sp>
        <p:nvSpPr>
          <p:cNvPr id="7" name="Text 5"/>
          <p:cNvSpPr/>
          <p:nvPr/>
        </p:nvSpPr>
        <p:spPr>
          <a:xfrm>
            <a:off x="685800" y="3611880"/>
            <a:ext cx="2194560" cy="137160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SAP SAC budget with ROI → CFO challenge session → Board approval in October → Controller cascades budget</a:t>
            </a:r>
            <a:endParaRPr lang="en-US" sz="1050" dirty="0"/>
          </a:p>
        </p:txBody>
      </p:sp>
      <p:sp>
        <p:nvSpPr>
          <p:cNvPr id="8" name="Shape 6"/>
          <p:cNvSpPr/>
          <p:nvPr/>
        </p:nvSpPr>
        <p:spPr>
          <a:xfrm>
            <a:off x="3090672" y="3566160"/>
            <a:ext cx="310896" cy="0"/>
          </a:xfrm>
          <a:prstGeom prst="line">
            <a:avLst/>
          </a:prstGeom>
          <a:noFill/>
          <a:ln w="22225">
            <a:solidFill>
              <a:srgbClr val="8A8A82"/>
            </a:solidFill>
            <a:prstDash val="solid"/>
            <a:tailEnd type="triangle"/>
          </a:ln>
        </p:spPr>
      </p:sp>
      <p:sp>
        <p:nvSpPr>
          <p:cNvPr id="9" name="Shape 7"/>
          <p:cNvSpPr/>
          <p:nvPr/>
        </p:nvSpPr>
        <p:spPr>
          <a:xfrm>
            <a:off x="3383280" y="2011680"/>
            <a:ext cx="2606040" cy="3108960"/>
          </a:xfrm>
          <a:prstGeom prst="roundRect">
            <a:avLst>
              <a:gd name="adj" fmla="val 3158"/>
            </a:avLst>
          </a:prstGeom>
          <a:solidFill>
            <a:srgbClr val="FAFAF8"/>
          </a:solidFill>
          <a:ln w="12700">
            <a:solidFill>
              <a:srgbClr val="D9D9D9"/>
            </a:solidFill>
            <a:prstDash val="solid"/>
          </a:ln>
          <a:effectLst>
            <a:outerShdw blurRad="76200" dist="25400" dir="2700000" algn="bl" rotWithShape="0">
              <a:srgbClr val="000000">
                <a:alpha val="12000"/>
              </a:srgbClr>
            </a:outerShdw>
          </a:effectLst>
        </p:spPr>
      </p:sp>
      <p:sp>
        <p:nvSpPr>
          <p:cNvPr id="10" name="Text 8"/>
          <p:cNvSpPr/>
          <p:nvPr/>
        </p:nvSpPr>
        <p:spPr>
          <a:xfrm>
            <a:off x="3611880" y="2240280"/>
            <a:ext cx="914400" cy="640080"/>
          </a:xfrm>
          <a:prstGeom prst="rect">
            <a:avLst/>
          </a:prstGeom>
          <a:noFill/>
          <a:ln/>
        </p:spPr>
        <p:txBody>
          <a:bodyPr wrap="square" lIns="0" tIns="0" rIns="0" bIns="0" rtlCol="0" anchor="ctr"/>
          <a:lstStyle/>
          <a:p>
            <a:pPr marL="0" indent="0">
              <a:buNone/>
            </a:pPr>
            <a:r>
              <a:rPr lang="en-US" sz="3400" dirty="0">
                <a:solidFill>
                  <a:srgbClr val="DD1D21"/>
                </a:solidFill>
                <a:latin typeface="Georgia" pitchFamily="34" charset="0"/>
                <a:ea typeface="Georgia" pitchFamily="34" charset="-122"/>
                <a:cs typeface="Georgia" pitchFamily="34" charset="-120"/>
              </a:rPr>
              <a:t>2</a:t>
            </a:r>
            <a:endParaRPr lang="en-US" sz="3400" dirty="0"/>
          </a:p>
        </p:txBody>
      </p:sp>
      <p:sp>
        <p:nvSpPr>
          <p:cNvPr id="11" name="Text 9"/>
          <p:cNvSpPr/>
          <p:nvPr/>
        </p:nvSpPr>
        <p:spPr>
          <a:xfrm>
            <a:off x="3611880" y="2926080"/>
            <a:ext cx="2194560" cy="6858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Allocation &amp; approval</a:t>
            </a:r>
            <a:endParaRPr lang="en-US" sz="1500" dirty="0"/>
          </a:p>
        </p:txBody>
      </p:sp>
      <p:sp>
        <p:nvSpPr>
          <p:cNvPr id="12" name="Text 10"/>
          <p:cNvSpPr/>
          <p:nvPr/>
        </p:nvSpPr>
        <p:spPr>
          <a:xfrm>
            <a:off x="3611880" y="3611880"/>
            <a:ext cx="2194560" cy="137160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Low-value capex below OMR 25,000 → minimum 3 quotations with HSSE checks → FIB, IT Manager &amp; GM approvals</a:t>
            </a:r>
            <a:endParaRPr lang="en-US" sz="1050" dirty="0"/>
          </a:p>
        </p:txBody>
      </p:sp>
      <p:sp>
        <p:nvSpPr>
          <p:cNvPr id="13" name="Shape 11"/>
          <p:cNvSpPr/>
          <p:nvPr/>
        </p:nvSpPr>
        <p:spPr>
          <a:xfrm>
            <a:off x="6016752" y="3566160"/>
            <a:ext cx="310896" cy="0"/>
          </a:xfrm>
          <a:prstGeom prst="line">
            <a:avLst/>
          </a:prstGeom>
          <a:noFill/>
          <a:ln w="22225">
            <a:solidFill>
              <a:srgbClr val="8A8A82"/>
            </a:solidFill>
            <a:prstDash val="solid"/>
            <a:tailEnd type="triangle"/>
          </a:ln>
        </p:spPr>
      </p:sp>
      <p:sp>
        <p:nvSpPr>
          <p:cNvPr id="14" name="Shape 12"/>
          <p:cNvSpPr/>
          <p:nvPr/>
        </p:nvSpPr>
        <p:spPr>
          <a:xfrm>
            <a:off x="6309360" y="2011680"/>
            <a:ext cx="2606040" cy="3108960"/>
          </a:xfrm>
          <a:prstGeom prst="roundRect">
            <a:avLst>
              <a:gd name="adj" fmla="val 3158"/>
            </a:avLst>
          </a:prstGeom>
          <a:solidFill>
            <a:srgbClr val="FAFAF8"/>
          </a:solidFill>
          <a:ln w="12700">
            <a:solidFill>
              <a:srgbClr val="D9D9D9"/>
            </a:solidFill>
            <a:prstDash val="solid"/>
          </a:ln>
          <a:effectLst>
            <a:outerShdw blurRad="76200" dist="25400" dir="2700000" algn="bl" rotWithShape="0">
              <a:srgbClr val="000000">
                <a:alpha val="12000"/>
              </a:srgbClr>
            </a:outerShdw>
          </a:effectLst>
        </p:spPr>
      </p:sp>
      <p:sp>
        <p:nvSpPr>
          <p:cNvPr id="15" name="Text 13"/>
          <p:cNvSpPr/>
          <p:nvPr/>
        </p:nvSpPr>
        <p:spPr>
          <a:xfrm>
            <a:off x="6537960" y="2240280"/>
            <a:ext cx="914400" cy="640080"/>
          </a:xfrm>
          <a:prstGeom prst="rect">
            <a:avLst/>
          </a:prstGeom>
          <a:noFill/>
          <a:ln/>
        </p:spPr>
        <p:txBody>
          <a:bodyPr wrap="square" lIns="0" tIns="0" rIns="0" bIns="0" rtlCol="0" anchor="ctr"/>
          <a:lstStyle/>
          <a:p>
            <a:pPr marL="0" indent="0">
              <a:buNone/>
            </a:pPr>
            <a:r>
              <a:rPr lang="en-US" sz="3400" dirty="0">
                <a:solidFill>
                  <a:srgbClr val="DD1D21"/>
                </a:solidFill>
                <a:latin typeface="Georgia" pitchFamily="34" charset="0"/>
                <a:ea typeface="Georgia" pitchFamily="34" charset="-122"/>
                <a:cs typeface="Georgia" pitchFamily="34" charset="-120"/>
              </a:rPr>
              <a:t>3</a:t>
            </a:r>
            <a:endParaRPr lang="en-US" sz="3400" dirty="0"/>
          </a:p>
        </p:txBody>
      </p:sp>
      <p:sp>
        <p:nvSpPr>
          <p:cNvPr id="16" name="Text 14"/>
          <p:cNvSpPr/>
          <p:nvPr/>
        </p:nvSpPr>
        <p:spPr>
          <a:xfrm>
            <a:off x="6537960" y="2926080"/>
            <a:ext cx="2194560" cy="6858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Procurement (CP / PR / PO)</a:t>
            </a:r>
            <a:endParaRPr lang="en-US" sz="1500" dirty="0"/>
          </a:p>
        </p:txBody>
      </p:sp>
      <p:sp>
        <p:nvSpPr>
          <p:cNvPr id="17" name="Text 15"/>
          <p:cNvSpPr/>
          <p:nvPr/>
        </p:nvSpPr>
        <p:spPr>
          <a:xfrm>
            <a:off x="6537960" y="3611880"/>
            <a:ext cx="2194560" cy="137160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Quotation routing by count → Project Engineer (NDA, DPA, vendor reg.) → GSAP → PR → PO → CP execution</a:t>
            </a:r>
            <a:endParaRPr lang="en-US" sz="1050" dirty="0"/>
          </a:p>
        </p:txBody>
      </p:sp>
      <p:sp>
        <p:nvSpPr>
          <p:cNvPr id="18" name="Shape 16"/>
          <p:cNvSpPr/>
          <p:nvPr/>
        </p:nvSpPr>
        <p:spPr>
          <a:xfrm>
            <a:off x="8942832" y="3566160"/>
            <a:ext cx="310896" cy="0"/>
          </a:xfrm>
          <a:prstGeom prst="line">
            <a:avLst/>
          </a:prstGeom>
          <a:noFill/>
          <a:ln w="22225">
            <a:solidFill>
              <a:srgbClr val="8A8A82"/>
            </a:solidFill>
            <a:prstDash val="solid"/>
            <a:tailEnd type="triangle"/>
          </a:ln>
        </p:spPr>
      </p:sp>
      <p:sp>
        <p:nvSpPr>
          <p:cNvPr id="19" name="Shape 17"/>
          <p:cNvSpPr/>
          <p:nvPr/>
        </p:nvSpPr>
        <p:spPr>
          <a:xfrm>
            <a:off x="9235440" y="2011680"/>
            <a:ext cx="2606040" cy="3108960"/>
          </a:xfrm>
          <a:prstGeom prst="roundRect">
            <a:avLst>
              <a:gd name="adj" fmla="val 3158"/>
            </a:avLst>
          </a:prstGeom>
          <a:solidFill>
            <a:srgbClr val="FAFAF8"/>
          </a:solidFill>
          <a:ln w="12700">
            <a:solidFill>
              <a:srgbClr val="D9D9D9"/>
            </a:solidFill>
            <a:prstDash val="solid"/>
          </a:ln>
          <a:effectLst>
            <a:outerShdw blurRad="76200" dist="25400" dir="2700000" algn="bl" rotWithShape="0">
              <a:srgbClr val="000000">
                <a:alpha val="12000"/>
              </a:srgbClr>
            </a:outerShdw>
          </a:effectLst>
        </p:spPr>
      </p:sp>
      <p:sp>
        <p:nvSpPr>
          <p:cNvPr id="20" name="Text 18"/>
          <p:cNvSpPr/>
          <p:nvPr/>
        </p:nvSpPr>
        <p:spPr>
          <a:xfrm>
            <a:off x="9464040" y="2240280"/>
            <a:ext cx="914400" cy="640080"/>
          </a:xfrm>
          <a:prstGeom prst="rect">
            <a:avLst/>
          </a:prstGeom>
          <a:noFill/>
          <a:ln/>
        </p:spPr>
        <p:txBody>
          <a:bodyPr wrap="square" lIns="0" tIns="0" rIns="0" bIns="0" rtlCol="0" anchor="ctr"/>
          <a:lstStyle/>
          <a:p>
            <a:pPr marL="0" indent="0">
              <a:buNone/>
            </a:pPr>
            <a:r>
              <a:rPr lang="en-US" sz="3400" dirty="0">
                <a:solidFill>
                  <a:srgbClr val="DD1D21"/>
                </a:solidFill>
                <a:latin typeface="Georgia" pitchFamily="34" charset="0"/>
                <a:ea typeface="Georgia" pitchFamily="34" charset="-122"/>
                <a:cs typeface="Georgia" pitchFamily="34" charset="-120"/>
              </a:rPr>
              <a:t>4</a:t>
            </a:r>
            <a:endParaRPr lang="en-US" sz="3400" dirty="0"/>
          </a:p>
        </p:txBody>
      </p:sp>
      <p:sp>
        <p:nvSpPr>
          <p:cNvPr id="21" name="Text 19"/>
          <p:cNvSpPr/>
          <p:nvPr/>
        </p:nvSpPr>
        <p:spPr>
          <a:xfrm>
            <a:off x="9464040" y="2926080"/>
            <a:ext cx="2194560" cy="6858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Execution &amp; tracking</a:t>
            </a:r>
            <a:endParaRPr lang="en-US" sz="1500" dirty="0"/>
          </a:p>
        </p:txBody>
      </p:sp>
      <p:sp>
        <p:nvSpPr>
          <p:cNvPr id="22" name="Text 20"/>
          <p:cNvSpPr/>
          <p:nvPr/>
        </p:nvSpPr>
        <p:spPr>
          <a:xfrm>
            <a:off x="9464040" y="3611880"/>
            <a:ext cx="2194560" cy="137160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PO upload → milestones, stages &amp; timelines → budget, actuals, ROI &amp; savings → Finance → capex form</a:t>
            </a:r>
            <a:endParaRPr lang="en-US" sz="1050" dirty="0"/>
          </a:p>
        </p:txBody>
      </p:sp>
      <p:sp>
        <p:nvSpPr>
          <p:cNvPr id="23" name="Text 21"/>
          <p:cNvSpPr/>
          <p:nvPr/>
        </p:nvSpPr>
        <p:spPr>
          <a:xfrm>
            <a:off x="548640" y="6510528"/>
            <a:ext cx="11064240" cy="274320"/>
          </a:xfrm>
          <a:prstGeom prst="rect">
            <a:avLst/>
          </a:prstGeom>
          <a:noFill/>
          <a:ln/>
        </p:spPr>
        <p:txBody>
          <a:bodyPr wrap="square" lIns="0" tIns="0" rIns="0" bIns="0" rtlCol="0" anchor="ctr"/>
          <a:lstStyle/>
          <a:p>
            <a:pPr marL="0" indent="0">
              <a:buNone/>
            </a:pPr>
            <a:r>
              <a:rPr lang="en-US" sz="900" dirty="0">
                <a:solidFill>
                  <a:srgbClr val="9A9A92"/>
                </a:solidFill>
                <a:latin typeface="Calibri" pitchFamily="34" charset="0"/>
                <a:ea typeface="Calibri" pitchFamily="34" charset="-122"/>
                <a:cs typeface="Calibri" pitchFamily="34" charset="-120"/>
              </a:rPr>
              <a:t>Shell Oman Marketing  ·  Integrated Enterprise Platform  ·  Prepared by AutomateXion</a:t>
            </a:r>
            <a:endParaRPr lang="en-US" sz="900" dirty="0"/>
          </a:p>
        </p:txBody>
      </p:sp>
      <p:pic>
        <p:nvPicPr>
          <p:cNvPr id="24" name="Picture 23">
            <a:extLst>
              <a:ext uri="{FF2B5EF4-FFF2-40B4-BE49-F238E27FC236}">
                <a16:creationId xmlns:a16="http://schemas.microsoft.com/office/drawing/2014/main" id="{812653E1-9D08-37B5-7EE7-3101F9B4AD91}"/>
              </a:ext>
            </a:extLst>
          </p:cNvPr>
          <p:cNvPicPr>
            <a:picLocks noChangeAspect="1"/>
          </p:cNvPicPr>
          <p:nvPr/>
        </p:nvPicPr>
        <p:blipFill>
          <a:blip r:embed="rId3"/>
          <a:stretch>
            <a:fillRect/>
          </a:stretch>
        </p:blipFill>
        <p:spPr>
          <a:xfrm>
            <a:off x="11018520" y="301957"/>
            <a:ext cx="822960" cy="822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lIns="0" tIns="0" rIns="0" bIns="0" rtlCol="0" anchor="ctr"/>
          <a:lstStyle/>
          <a:p>
            <a:pPr marL="0" indent="0">
              <a:buNone/>
            </a:pPr>
            <a:r>
              <a:rPr lang="en-US" sz="3000" dirty="0">
                <a:solidFill>
                  <a:srgbClr val="DD1D21"/>
                </a:solidFill>
                <a:latin typeface="Georgia" pitchFamily="34" charset="0"/>
                <a:ea typeface="Georgia" pitchFamily="34" charset="-122"/>
                <a:cs typeface="Georgia" pitchFamily="34" charset="-120"/>
              </a:rPr>
              <a:t>1  </a:t>
            </a:r>
            <a:r>
              <a:rPr lang="en-US" sz="2600" dirty="0">
                <a:solidFill>
                  <a:srgbClr val="2B2B2B"/>
                </a:solidFill>
                <a:latin typeface="Georgia" pitchFamily="34" charset="0"/>
                <a:ea typeface="Georgia" pitchFamily="34" charset="-122"/>
                <a:cs typeface="Georgia" pitchFamily="34" charset="-120"/>
              </a:rPr>
              <a:t>Annual capex budgeting cycle</a:t>
            </a:r>
            <a:endParaRPr lang="en-US" sz="3000" dirty="0"/>
          </a:p>
        </p:txBody>
      </p:sp>
      <p:sp>
        <p:nvSpPr>
          <p:cNvPr id="3" name="Text 1"/>
          <p:cNvSpPr/>
          <p:nvPr/>
        </p:nvSpPr>
        <p:spPr>
          <a:xfrm>
            <a:off x="566928" y="914400"/>
            <a:ext cx="10972800" cy="502920"/>
          </a:xfrm>
          <a:prstGeom prst="rect">
            <a:avLst/>
          </a:prstGeom>
          <a:noFill/>
          <a:ln/>
        </p:spPr>
        <p:txBody>
          <a:bodyPr wrap="square" lIns="0" tIns="0" rIns="0" bIns="0" rtlCol="0" anchor="t"/>
          <a:lstStyle/>
          <a:p>
            <a:pPr marL="0" indent="0">
              <a:buNone/>
            </a:pPr>
            <a:r>
              <a:rPr lang="en-US" sz="1150" dirty="0">
                <a:solidFill>
                  <a:srgbClr val="6B6B6B"/>
                </a:solidFill>
                <a:latin typeface="Calibri" pitchFamily="34" charset="0"/>
                <a:ea typeface="Calibri" pitchFamily="34" charset="-122"/>
                <a:cs typeface="Calibri" pitchFamily="34" charset="-120"/>
              </a:rPr>
              <a:t>The annual budget originates in SAP SAC with ROI, is challenged by the CFO with the executive management team, and is approved by the Board in October. The Corporate Controller team cascades the final approved budget to all budget holders.</a:t>
            </a:r>
            <a:endParaRPr lang="en-US" sz="1150" dirty="0"/>
          </a:p>
        </p:txBody>
      </p:sp>
      <p:sp>
        <p:nvSpPr>
          <p:cNvPr id="4" name="Shape 2"/>
          <p:cNvSpPr/>
          <p:nvPr/>
        </p:nvSpPr>
        <p:spPr>
          <a:xfrm>
            <a:off x="7315200" y="347472"/>
            <a:ext cx="164592" cy="164592"/>
          </a:xfrm>
          <a:prstGeom prst="roundRect">
            <a:avLst>
              <a:gd name="adj" fmla="val 11111"/>
            </a:avLst>
          </a:prstGeom>
          <a:solidFill>
            <a:srgbClr val="F5F5F3"/>
          </a:solidFill>
          <a:ln w="12700">
            <a:solidFill>
              <a:srgbClr val="9A9A92"/>
            </a:solidFill>
            <a:prstDash val="solid"/>
          </a:ln>
        </p:spPr>
      </p:sp>
      <p:sp>
        <p:nvSpPr>
          <p:cNvPr id="5" name="Text 3"/>
          <p:cNvSpPr/>
          <p:nvPr/>
        </p:nvSpPr>
        <p:spPr>
          <a:xfrm>
            <a:off x="753465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Process / system</a:t>
            </a:r>
            <a:endParaRPr lang="en-US" sz="900" dirty="0"/>
          </a:p>
        </p:txBody>
      </p:sp>
      <p:sp>
        <p:nvSpPr>
          <p:cNvPr id="6" name="Shape 4"/>
          <p:cNvSpPr/>
          <p:nvPr/>
        </p:nvSpPr>
        <p:spPr>
          <a:xfrm>
            <a:off x="9052560" y="347472"/>
            <a:ext cx="164592" cy="164592"/>
          </a:xfrm>
          <a:prstGeom prst="roundRect">
            <a:avLst>
              <a:gd name="adj" fmla="val 11111"/>
            </a:avLst>
          </a:prstGeom>
          <a:solidFill>
            <a:srgbClr val="FDEEEE"/>
          </a:solidFill>
          <a:ln w="12700">
            <a:solidFill>
              <a:srgbClr val="DD1D21"/>
            </a:solidFill>
            <a:prstDash val="solid"/>
          </a:ln>
        </p:spPr>
      </p:sp>
      <p:sp>
        <p:nvSpPr>
          <p:cNvPr id="7" name="Text 5"/>
          <p:cNvSpPr/>
          <p:nvPr/>
        </p:nvSpPr>
        <p:spPr>
          <a:xfrm>
            <a:off x="927201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Approval</a:t>
            </a:r>
            <a:endParaRPr lang="en-US" sz="900" dirty="0"/>
          </a:p>
        </p:txBody>
      </p:sp>
      <p:sp>
        <p:nvSpPr>
          <p:cNvPr id="8" name="Shape 6"/>
          <p:cNvSpPr/>
          <p:nvPr/>
        </p:nvSpPr>
        <p:spPr>
          <a:xfrm>
            <a:off x="10469880" y="347472"/>
            <a:ext cx="164592" cy="164592"/>
          </a:xfrm>
          <a:prstGeom prst="roundRect">
            <a:avLst>
              <a:gd name="adj" fmla="val 11111"/>
            </a:avLst>
          </a:prstGeom>
          <a:solidFill>
            <a:srgbClr val="FEF7D9"/>
          </a:solidFill>
          <a:ln w="12700">
            <a:solidFill>
              <a:srgbClr val="B58B00"/>
            </a:solidFill>
            <a:prstDash val="solid"/>
          </a:ln>
        </p:spPr>
      </p:sp>
      <p:sp>
        <p:nvSpPr>
          <p:cNvPr id="9" name="Text 7"/>
          <p:cNvSpPr/>
          <p:nvPr/>
        </p:nvSpPr>
        <p:spPr>
          <a:xfrm>
            <a:off x="1068933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Key role / output</a:t>
            </a:r>
            <a:endParaRPr lang="en-US" sz="900" dirty="0"/>
          </a:p>
        </p:txBody>
      </p:sp>
      <p:sp>
        <p:nvSpPr>
          <p:cNvPr id="10" name="Text 8"/>
          <p:cNvSpPr/>
          <p:nvPr/>
        </p:nvSpPr>
        <p:spPr>
          <a:xfrm>
            <a:off x="548640" y="6510528"/>
            <a:ext cx="11064240" cy="274320"/>
          </a:xfrm>
          <a:prstGeom prst="rect">
            <a:avLst/>
          </a:prstGeom>
          <a:noFill/>
          <a:ln/>
        </p:spPr>
        <p:txBody>
          <a:bodyPr wrap="square" lIns="0" tIns="0" rIns="0" bIns="0" rtlCol="0" anchor="ctr"/>
          <a:lstStyle/>
          <a:p>
            <a:pPr marL="0" indent="0">
              <a:buNone/>
            </a:pPr>
            <a:r>
              <a:rPr lang="en-US" sz="900" dirty="0">
                <a:solidFill>
                  <a:srgbClr val="9A9A92"/>
                </a:solidFill>
                <a:latin typeface="Calibri" pitchFamily="34" charset="0"/>
                <a:ea typeface="Calibri" pitchFamily="34" charset="-122"/>
                <a:cs typeface="Calibri" pitchFamily="34" charset="-120"/>
              </a:rPr>
              <a:t>Shell Oman Marketing  ·  Integrated Enterprise Platform  ·  Prepared by AutomateXion</a:t>
            </a:r>
            <a:endParaRPr lang="en-US" sz="900" dirty="0"/>
          </a:p>
        </p:txBody>
      </p:sp>
      <p:sp>
        <p:nvSpPr>
          <p:cNvPr id="11" name="Shape 9"/>
          <p:cNvSpPr/>
          <p:nvPr/>
        </p:nvSpPr>
        <p:spPr>
          <a:xfrm>
            <a:off x="731520" y="2011680"/>
            <a:ext cx="3017520" cy="1005840"/>
          </a:xfrm>
          <a:prstGeom prst="roundRect">
            <a:avLst>
              <a:gd name="adj" fmla="val 6364"/>
            </a:avLst>
          </a:prstGeom>
          <a:solidFill>
            <a:srgbClr val="F5F5F3"/>
          </a:solidFill>
          <a:ln w="15875">
            <a:solidFill>
              <a:srgbClr val="9A9A92"/>
            </a:solidFill>
            <a:prstDash val="solid"/>
          </a:ln>
        </p:spPr>
      </p:sp>
      <p:sp>
        <p:nvSpPr>
          <p:cNvPr id="12" name="Text 10"/>
          <p:cNvSpPr/>
          <p:nvPr/>
        </p:nvSpPr>
        <p:spPr>
          <a:xfrm>
            <a:off x="731520" y="2011680"/>
            <a:ext cx="3017520" cy="100584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SAP SAC budgeting tool</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Annual budget prepared with ROI</a:t>
            </a:r>
            <a:endParaRPr lang="en-US" sz="1300" dirty="0"/>
          </a:p>
        </p:txBody>
      </p:sp>
      <p:sp>
        <p:nvSpPr>
          <p:cNvPr id="13" name="Shape 11"/>
          <p:cNvSpPr/>
          <p:nvPr/>
        </p:nvSpPr>
        <p:spPr>
          <a:xfrm>
            <a:off x="4572000" y="2011680"/>
            <a:ext cx="3017520" cy="1005840"/>
          </a:xfrm>
          <a:prstGeom prst="roundRect">
            <a:avLst>
              <a:gd name="adj" fmla="val 6364"/>
            </a:avLst>
          </a:prstGeom>
          <a:solidFill>
            <a:srgbClr val="FDEEEE"/>
          </a:solidFill>
          <a:ln w="15875">
            <a:solidFill>
              <a:srgbClr val="DD1D21"/>
            </a:solidFill>
            <a:prstDash val="solid"/>
          </a:ln>
        </p:spPr>
      </p:sp>
      <p:sp>
        <p:nvSpPr>
          <p:cNvPr id="14" name="Text 12"/>
          <p:cNvSpPr/>
          <p:nvPr/>
        </p:nvSpPr>
        <p:spPr>
          <a:xfrm>
            <a:off x="4572000" y="2011680"/>
            <a:ext cx="3017520" cy="100584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Internal challenge session — CFO</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With executive management team → decision</a:t>
            </a:r>
            <a:endParaRPr lang="en-US" sz="1300" dirty="0"/>
          </a:p>
        </p:txBody>
      </p:sp>
      <p:sp>
        <p:nvSpPr>
          <p:cNvPr id="15" name="Shape 13"/>
          <p:cNvSpPr/>
          <p:nvPr/>
        </p:nvSpPr>
        <p:spPr>
          <a:xfrm>
            <a:off x="8412480" y="2011680"/>
            <a:ext cx="3017520" cy="1005840"/>
          </a:xfrm>
          <a:prstGeom prst="roundRect">
            <a:avLst>
              <a:gd name="adj" fmla="val 6364"/>
            </a:avLst>
          </a:prstGeom>
          <a:solidFill>
            <a:srgbClr val="FDEEEE"/>
          </a:solidFill>
          <a:ln w="15875">
            <a:solidFill>
              <a:srgbClr val="DD1D21"/>
            </a:solidFill>
            <a:prstDash val="solid"/>
          </a:ln>
        </p:spPr>
      </p:sp>
      <p:sp>
        <p:nvSpPr>
          <p:cNvPr id="16" name="Text 14"/>
          <p:cNvSpPr/>
          <p:nvPr/>
        </p:nvSpPr>
        <p:spPr>
          <a:xfrm>
            <a:off x="8412480" y="2011680"/>
            <a:ext cx="3017520" cy="100584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Board meeting — October</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Capex budget reviewed</a:t>
            </a:r>
            <a:endParaRPr lang="en-US" sz="1300" dirty="0"/>
          </a:p>
        </p:txBody>
      </p:sp>
      <p:sp>
        <p:nvSpPr>
          <p:cNvPr id="17" name="Shape 15"/>
          <p:cNvSpPr/>
          <p:nvPr/>
        </p:nvSpPr>
        <p:spPr>
          <a:xfrm>
            <a:off x="3749040" y="2514600"/>
            <a:ext cx="822960" cy="0"/>
          </a:xfrm>
          <a:prstGeom prst="line">
            <a:avLst/>
          </a:prstGeom>
          <a:noFill/>
          <a:ln w="22225">
            <a:solidFill>
              <a:srgbClr val="8A8A82"/>
            </a:solidFill>
            <a:prstDash val="solid"/>
            <a:tailEnd type="triangle"/>
          </a:ln>
        </p:spPr>
      </p:sp>
      <p:sp>
        <p:nvSpPr>
          <p:cNvPr id="18" name="Shape 16"/>
          <p:cNvSpPr/>
          <p:nvPr/>
        </p:nvSpPr>
        <p:spPr>
          <a:xfrm>
            <a:off x="7589520" y="2514600"/>
            <a:ext cx="822960" cy="0"/>
          </a:xfrm>
          <a:prstGeom prst="line">
            <a:avLst/>
          </a:prstGeom>
          <a:noFill/>
          <a:ln w="22225">
            <a:solidFill>
              <a:srgbClr val="8A8A82"/>
            </a:solidFill>
            <a:prstDash val="solid"/>
            <a:tailEnd type="triangle"/>
          </a:ln>
        </p:spPr>
      </p:sp>
      <p:sp>
        <p:nvSpPr>
          <p:cNvPr id="19" name="Shape 17"/>
          <p:cNvSpPr/>
          <p:nvPr/>
        </p:nvSpPr>
        <p:spPr>
          <a:xfrm>
            <a:off x="9921240" y="3017520"/>
            <a:ext cx="0" cy="1188720"/>
          </a:xfrm>
          <a:prstGeom prst="line">
            <a:avLst/>
          </a:prstGeom>
          <a:noFill/>
          <a:ln w="22225">
            <a:solidFill>
              <a:srgbClr val="8A8A82"/>
            </a:solidFill>
            <a:prstDash val="solid"/>
            <a:tailEnd type="triangle"/>
          </a:ln>
        </p:spPr>
      </p:sp>
      <p:sp>
        <p:nvSpPr>
          <p:cNvPr id="20" name="Shape 18"/>
          <p:cNvSpPr/>
          <p:nvPr/>
        </p:nvSpPr>
        <p:spPr>
          <a:xfrm>
            <a:off x="8412480" y="4206240"/>
            <a:ext cx="3017520" cy="1005840"/>
          </a:xfrm>
          <a:prstGeom prst="roundRect">
            <a:avLst>
              <a:gd name="adj" fmla="val 6364"/>
            </a:avLst>
          </a:prstGeom>
          <a:solidFill>
            <a:srgbClr val="FDEEEE"/>
          </a:solidFill>
          <a:ln w="15875">
            <a:solidFill>
              <a:srgbClr val="DD1D21"/>
            </a:solidFill>
            <a:prstDash val="solid"/>
          </a:ln>
        </p:spPr>
      </p:sp>
      <p:sp>
        <p:nvSpPr>
          <p:cNvPr id="21" name="Text 19"/>
          <p:cNvSpPr/>
          <p:nvPr/>
        </p:nvSpPr>
        <p:spPr>
          <a:xfrm>
            <a:off x="8412480" y="4206240"/>
            <a:ext cx="3017520" cy="100584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Approval of capex budget</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Final figures locked for the year</a:t>
            </a:r>
            <a:endParaRPr lang="en-US" sz="1300" dirty="0"/>
          </a:p>
        </p:txBody>
      </p:sp>
      <p:sp>
        <p:nvSpPr>
          <p:cNvPr id="22" name="Shape 20"/>
          <p:cNvSpPr/>
          <p:nvPr/>
        </p:nvSpPr>
        <p:spPr>
          <a:xfrm>
            <a:off x="4572000" y="4206240"/>
            <a:ext cx="3017520" cy="1005840"/>
          </a:xfrm>
          <a:prstGeom prst="roundRect">
            <a:avLst>
              <a:gd name="adj" fmla="val 6364"/>
            </a:avLst>
          </a:prstGeom>
          <a:solidFill>
            <a:srgbClr val="F5F5F3"/>
          </a:solidFill>
          <a:ln w="15875">
            <a:solidFill>
              <a:srgbClr val="9A9A92"/>
            </a:solidFill>
            <a:prstDash val="solid"/>
          </a:ln>
        </p:spPr>
      </p:sp>
      <p:sp>
        <p:nvSpPr>
          <p:cNvPr id="23" name="Text 21"/>
          <p:cNvSpPr/>
          <p:nvPr/>
        </p:nvSpPr>
        <p:spPr>
          <a:xfrm>
            <a:off x="4572000" y="4206240"/>
            <a:ext cx="3017520" cy="100584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Corporate Controller team</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Communicates final approved budget</a:t>
            </a:r>
            <a:endParaRPr lang="en-US" sz="1300" dirty="0"/>
          </a:p>
        </p:txBody>
      </p:sp>
      <p:sp>
        <p:nvSpPr>
          <p:cNvPr id="24" name="Shape 22"/>
          <p:cNvSpPr/>
          <p:nvPr/>
        </p:nvSpPr>
        <p:spPr>
          <a:xfrm>
            <a:off x="731520" y="4206240"/>
            <a:ext cx="3017520" cy="1005840"/>
          </a:xfrm>
          <a:prstGeom prst="roundRect">
            <a:avLst>
              <a:gd name="adj" fmla="val 6364"/>
            </a:avLst>
          </a:prstGeom>
          <a:solidFill>
            <a:srgbClr val="FEF7D9"/>
          </a:solidFill>
          <a:ln w="15875">
            <a:solidFill>
              <a:srgbClr val="B58B00"/>
            </a:solidFill>
            <a:prstDash val="solid"/>
          </a:ln>
        </p:spPr>
      </p:sp>
      <p:sp>
        <p:nvSpPr>
          <p:cNvPr id="25" name="Text 23"/>
          <p:cNvSpPr/>
          <p:nvPr/>
        </p:nvSpPr>
        <p:spPr>
          <a:xfrm>
            <a:off x="731520" y="4206240"/>
            <a:ext cx="3017520" cy="100584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Budget holders</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GMs, Project Engineers &amp; FIB</a:t>
            </a:r>
            <a:endParaRPr lang="en-US" sz="1300" dirty="0"/>
          </a:p>
        </p:txBody>
      </p:sp>
      <p:sp>
        <p:nvSpPr>
          <p:cNvPr id="26" name="Shape 24"/>
          <p:cNvSpPr/>
          <p:nvPr/>
        </p:nvSpPr>
        <p:spPr>
          <a:xfrm>
            <a:off x="7589520" y="4709160"/>
            <a:ext cx="822960" cy="0"/>
          </a:xfrm>
          <a:prstGeom prst="line">
            <a:avLst/>
          </a:prstGeom>
          <a:noFill/>
          <a:ln w="22225">
            <a:solidFill>
              <a:srgbClr val="8A8A82"/>
            </a:solidFill>
            <a:prstDash val="solid"/>
            <a:headEnd type="triangle"/>
          </a:ln>
        </p:spPr>
      </p:sp>
      <p:sp>
        <p:nvSpPr>
          <p:cNvPr id="27" name="Shape 25"/>
          <p:cNvSpPr/>
          <p:nvPr/>
        </p:nvSpPr>
        <p:spPr>
          <a:xfrm>
            <a:off x="3749040" y="4709160"/>
            <a:ext cx="822960" cy="0"/>
          </a:xfrm>
          <a:prstGeom prst="line">
            <a:avLst/>
          </a:prstGeom>
          <a:noFill/>
          <a:ln w="22225">
            <a:solidFill>
              <a:srgbClr val="8A8A82"/>
            </a:solidFill>
            <a:prstDash val="solid"/>
            <a:headEnd type="triangle"/>
          </a:ln>
        </p:spPr>
      </p:sp>
      <p:pic>
        <p:nvPicPr>
          <p:cNvPr id="28" name="Picture 27">
            <a:extLst>
              <a:ext uri="{FF2B5EF4-FFF2-40B4-BE49-F238E27FC236}">
                <a16:creationId xmlns:a16="http://schemas.microsoft.com/office/drawing/2014/main" id="{AB493D42-F6A8-AB6F-65B6-BBE7E2471150}"/>
              </a:ext>
            </a:extLst>
          </p:cNvPr>
          <p:cNvPicPr>
            <a:picLocks noChangeAspect="1"/>
          </p:cNvPicPr>
          <p:nvPr/>
        </p:nvPicPr>
        <p:blipFill>
          <a:blip r:embed="rId3"/>
          <a:stretch>
            <a:fillRect/>
          </a:stretch>
        </p:blipFill>
        <p:spPr>
          <a:xfrm>
            <a:off x="10820400" y="5824728"/>
            <a:ext cx="822960" cy="822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lIns="0" tIns="0" rIns="0" bIns="0" rtlCol="0" anchor="ctr"/>
          <a:lstStyle/>
          <a:p>
            <a:pPr marL="0" indent="0">
              <a:buNone/>
            </a:pPr>
            <a:r>
              <a:rPr lang="en-US" sz="3000" dirty="0">
                <a:solidFill>
                  <a:srgbClr val="DD1D21"/>
                </a:solidFill>
                <a:latin typeface="Georgia" pitchFamily="34" charset="0"/>
                <a:ea typeface="Georgia" pitchFamily="34" charset="-122"/>
                <a:cs typeface="Georgia" pitchFamily="34" charset="-120"/>
              </a:rPr>
              <a:t>2  </a:t>
            </a:r>
            <a:r>
              <a:rPr lang="en-US" sz="2600" dirty="0">
                <a:solidFill>
                  <a:srgbClr val="2B2B2B"/>
                </a:solidFill>
                <a:latin typeface="Georgia" pitchFamily="34" charset="0"/>
                <a:ea typeface="Georgia" pitchFamily="34" charset="-122"/>
                <a:cs typeface="Georgia" pitchFamily="34" charset="-120"/>
              </a:rPr>
              <a:t>Capex allocation &amp; approval</a:t>
            </a:r>
            <a:endParaRPr lang="en-US" sz="3000" dirty="0"/>
          </a:p>
        </p:txBody>
      </p:sp>
      <p:sp>
        <p:nvSpPr>
          <p:cNvPr id="3" name="Text 1"/>
          <p:cNvSpPr/>
          <p:nvPr/>
        </p:nvSpPr>
        <p:spPr>
          <a:xfrm>
            <a:off x="566928" y="914400"/>
            <a:ext cx="10972800" cy="502920"/>
          </a:xfrm>
          <a:prstGeom prst="rect">
            <a:avLst/>
          </a:prstGeom>
          <a:noFill/>
          <a:ln/>
        </p:spPr>
        <p:txBody>
          <a:bodyPr wrap="square" lIns="0" tIns="0" rIns="0" bIns="0" rtlCol="0" anchor="t"/>
          <a:lstStyle/>
          <a:p>
            <a:pPr marL="0" indent="0">
              <a:buNone/>
            </a:pPr>
            <a:r>
              <a:rPr lang="en-US" sz="1150" dirty="0">
                <a:solidFill>
                  <a:srgbClr val="6B6B6B"/>
                </a:solidFill>
                <a:latin typeface="Calibri" pitchFamily="34" charset="0"/>
                <a:ea typeface="Calibri" pitchFamily="34" charset="-122"/>
                <a:cs typeface="Calibri" pitchFamily="34" charset="-120"/>
              </a:rPr>
              <a:t>Low-value route. At the start of the year, each Business/Function confirms timelines and estimated budgets. Low-value capex (below OMR 25,000) requires a minimum of 3 quotations with HSSE and worker-welfare compliance, followed by FIB validation, IT Manager and GM approvals.</a:t>
            </a:r>
            <a:endParaRPr lang="en-US" sz="1150" dirty="0"/>
          </a:p>
        </p:txBody>
      </p:sp>
      <p:sp>
        <p:nvSpPr>
          <p:cNvPr id="4" name="Shape 2"/>
          <p:cNvSpPr/>
          <p:nvPr/>
        </p:nvSpPr>
        <p:spPr>
          <a:xfrm>
            <a:off x="7315200" y="347472"/>
            <a:ext cx="164592" cy="164592"/>
          </a:xfrm>
          <a:prstGeom prst="roundRect">
            <a:avLst>
              <a:gd name="adj" fmla="val 11111"/>
            </a:avLst>
          </a:prstGeom>
          <a:solidFill>
            <a:srgbClr val="F5F5F3"/>
          </a:solidFill>
          <a:ln w="12700">
            <a:solidFill>
              <a:srgbClr val="9A9A92"/>
            </a:solidFill>
            <a:prstDash val="solid"/>
          </a:ln>
        </p:spPr>
      </p:sp>
      <p:sp>
        <p:nvSpPr>
          <p:cNvPr id="5" name="Text 3"/>
          <p:cNvSpPr/>
          <p:nvPr/>
        </p:nvSpPr>
        <p:spPr>
          <a:xfrm>
            <a:off x="753465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Process / system</a:t>
            </a:r>
            <a:endParaRPr lang="en-US" sz="900" dirty="0"/>
          </a:p>
        </p:txBody>
      </p:sp>
      <p:sp>
        <p:nvSpPr>
          <p:cNvPr id="6" name="Shape 4"/>
          <p:cNvSpPr/>
          <p:nvPr/>
        </p:nvSpPr>
        <p:spPr>
          <a:xfrm>
            <a:off x="9052560" y="347472"/>
            <a:ext cx="164592" cy="164592"/>
          </a:xfrm>
          <a:prstGeom prst="roundRect">
            <a:avLst>
              <a:gd name="adj" fmla="val 11111"/>
            </a:avLst>
          </a:prstGeom>
          <a:solidFill>
            <a:srgbClr val="FDEEEE"/>
          </a:solidFill>
          <a:ln w="12700">
            <a:solidFill>
              <a:srgbClr val="DD1D21"/>
            </a:solidFill>
            <a:prstDash val="solid"/>
          </a:ln>
        </p:spPr>
      </p:sp>
      <p:sp>
        <p:nvSpPr>
          <p:cNvPr id="7" name="Text 5"/>
          <p:cNvSpPr/>
          <p:nvPr/>
        </p:nvSpPr>
        <p:spPr>
          <a:xfrm>
            <a:off x="927201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Approval</a:t>
            </a:r>
            <a:endParaRPr lang="en-US" sz="900" dirty="0"/>
          </a:p>
        </p:txBody>
      </p:sp>
      <p:sp>
        <p:nvSpPr>
          <p:cNvPr id="8" name="Shape 6"/>
          <p:cNvSpPr/>
          <p:nvPr/>
        </p:nvSpPr>
        <p:spPr>
          <a:xfrm>
            <a:off x="10469880" y="347472"/>
            <a:ext cx="164592" cy="164592"/>
          </a:xfrm>
          <a:prstGeom prst="roundRect">
            <a:avLst>
              <a:gd name="adj" fmla="val 11111"/>
            </a:avLst>
          </a:prstGeom>
          <a:solidFill>
            <a:srgbClr val="FEF7D9"/>
          </a:solidFill>
          <a:ln w="12700">
            <a:solidFill>
              <a:srgbClr val="B58B00"/>
            </a:solidFill>
            <a:prstDash val="solid"/>
          </a:ln>
        </p:spPr>
      </p:sp>
      <p:sp>
        <p:nvSpPr>
          <p:cNvPr id="9" name="Text 7"/>
          <p:cNvSpPr/>
          <p:nvPr/>
        </p:nvSpPr>
        <p:spPr>
          <a:xfrm>
            <a:off x="1068933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Key role / output</a:t>
            </a:r>
            <a:endParaRPr lang="en-US" sz="900" dirty="0"/>
          </a:p>
        </p:txBody>
      </p:sp>
      <p:sp>
        <p:nvSpPr>
          <p:cNvPr id="10" name="Text 8"/>
          <p:cNvSpPr/>
          <p:nvPr/>
        </p:nvSpPr>
        <p:spPr>
          <a:xfrm>
            <a:off x="548640" y="6510528"/>
            <a:ext cx="11064240" cy="274320"/>
          </a:xfrm>
          <a:prstGeom prst="rect">
            <a:avLst/>
          </a:prstGeom>
          <a:noFill/>
          <a:ln/>
        </p:spPr>
        <p:txBody>
          <a:bodyPr wrap="square" lIns="0" tIns="0" rIns="0" bIns="0" rtlCol="0" anchor="ctr"/>
          <a:lstStyle/>
          <a:p>
            <a:pPr marL="0" indent="0">
              <a:buNone/>
            </a:pPr>
            <a:r>
              <a:rPr lang="en-US" sz="900" dirty="0">
                <a:solidFill>
                  <a:srgbClr val="9A9A92"/>
                </a:solidFill>
                <a:latin typeface="Calibri" pitchFamily="34" charset="0"/>
                <a:ea typeface="Calibri" pitchFamily="34" charset="-122"/>
                <a:cs typeface="Calibri" pitchFamily="34" charset="-120"/>
              </a:rPr>
              <a:t>Shell Oman Marketing  ·  Integrated Enterprise Platform  ·  Prepared by AutomateXion</a:t>
            </a:r>
            <a:endParaRPr lang="en-US" sz="900" dirty="0"/>
          </a:p>
        </p:txBody>
      </p:sp>
      <p:sp>
        <p:nvSpPr>
          <p:cNvPr id="11" name="Shape 9"/>
          <p:cNvSpPr/>
          <p:nvPr/>
        </p:nvSpPr>
        <p:spPr>
          <a:xfrm>
            <a:off x="548640" y="2011680"/>
            <a:ext cx="2560320" cy="1051560"/>
          </a:xfrm>
          <a:prstGeom prst="roundRect">
            <a:avLst>
              <a:gd name="adj" fmla="val 6087"/>
            </a:avLst>
          </a:prstGeom>
          <a:solidFill>
            <a:srgbClr val="F5F5F3"/>
          </a:solidFill>
          <a:ln w="15875">
            <a:solidFill>
              <a:srgbClr val="9A9A92"/>
            </a:solidFill>
            <a:prstDash val="solid"/>
          </a:ln>
        </p:spPr>
      </p:sp>
      <p:sp>
        <p:nvSpPr>
          <p:cNvPr id="12" name="Text 10"/>
          <p:cNvSpPr/>
          <p:nvPr/>
        </p:nvSpPr>
        <p:spPr>
          <a:xfrm>
            <a:off x="548640" y="201168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Start of year</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Business/Functions confirm timelines &amp; estimated budget</a:t>
            </a:r>
            <a:endParaRPr lang="en-US" sz="1300" dirty="0"/>
          </a:p>
        </p:txBody>
      </p:sp>
      <p:sp>
        <p:nvSpPr>
          <p:cNvPr id="13" name="Shape 11"/>
          <p:cNvSpPr/>
          <p:nvPr/>
        </p:nvSpPr>
        <p:spPr>
          <a:xfrm>
            <a:off x="3474720" y="2011680"/>
            <a:ext cx="2560320" cy="1051560"/>
          </a:xfrm>
          <a:prstGeom prst="roundRect">
            <a:avLst>
              <a:gd name="adj" fmla="val 6087"/>
            </a:avLst>
          </a:prstGeom>
          <a:solidFill>
            <a:srgbClr val="F5F5F3"/>
          </a:solidFill>
          <a:ln w="15875">
            <a:solidFill>
              <a:srgbClr val="9A9A92"/>
            </a:solidFill>
            <a:prstDash val="solid"/>
          </a:ln>
        </p:spPr>
      </p:sp>
      <p:sp>
        <p:nvSpPr>
          <p:cNvPr id="14" name="Text 12"/>
          <p:cNvSpPr/>
          <p:nvPr/>
        </p:nvSpPr>
        <p:spPr>
          <a:xfrm>
            <a:off x="3474720" y="201168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Low-value capex</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Value less than OMR 25,000</a:t>
            </a:r>
            <a:endParaRPr lang="en-US" sz="1300" dirty="0"/>
          </a:p>
        </p:txBody>
      </p:sp>
      <p:sp>
        <p:nvSpPr>
          <p:cNvPr id="15" name="Shape 13"/>
          <p:cNvSpPr/>
          <p:nvPr/>
        </p:nvSpPr>
        <p:spPr>
          <a:xfrm>
            <a:off x="6400800" y="2011680"/>
            <a:ext cx="2560320" cy="1051560"/>
          </a:xfrm>
          <a:prstGeom prst="roundRect">
            <a:avLst>
              <a:gd name="adj" fmla="val 6087"/>
            </a:avLst>
          </a:prstGeom>
          <a:solidFill>
            <a:srgbClr val="F5F5F3"/>
          </a:solidFill>
          <a:ln w="15875">
            <a:solidFill>
              <a:srgbClr val="9A9A92"/>
            </a:solidFill>
            <a:prstDash val="solid"/>
          </a:ln>
        </p:spPr>
      </p:sp>
      <p:sp>
        <p:nvSpPr>
          <p:cNvPr id="16" name="Text 14"/>
          <p:cNvSpPr/>
          <p:nvPr/>
        </p:nvSpPr>
        <p:spPr>
          <a:xfrm>
            <a:off x="6400800" y="201168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Quotations — Business/Function</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Minimum 3 · HSSE + worker-welfare compliance</a:t>
            </a:r>
            <a:endParaRPr lang="en-US" sz="1300" dirty="0"/>
          </a:p>
        </p:txBody>
      </p:sp>
      <p:sp>
        <p:nvSpPr>
          <p:cNvPr id="17" name="Shape 15"/>
          <p:cNvSpPr/>
          <p:nvPr/>
        </p:nvSpPr>
        <p:spPr>
          <a:xfrm>
            <a:off x="9326880" y="2011680"/>
            <a:ext cx="2560320" cy="1051560"/>
          </a:xfrm>
          <a:prstGeom prst="roundRect">
            <a:avLst>
              <a:gd name="adj" fmla="val 6087"/>
            </a:avLst>
          </a:prstGeom>
          <a:solidFill>
            <a:srgbClr val="FDEEEE"/>
          </a:solidFill>
          <a:ln w="15875">
            <a:solidFill>
              <a:srgbClr val="DD1D21"/>
            </a:solidFill>
            <a:prstDash val="solid"/>
          </a:ln>
        </p:spPr>
      </p:sp>
      <p:sp>
        <p:nvSpPr>
          <p:cNvPr id="18" name="Text 16"/>
          <p:cNvSpPr/>
          <p:nvPr/>
        </p:nvSpPr>
        <p:spPr>
          <a:xfrm>
            <a:off x="9326880" y="201168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Finance in Business (FIB)</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Validation</a:t>
            </a:r>
            <a:endParaRPr lang="en-US" sz="1300" dirty="0"/>
          </a:p>
        </p:txBody>
      </p:sp>
      <p:sp>
        <p:nvSpPr>
          <p:cNvPr id="19" name="Shape 17"/>
          <p:cNvSpPr/>
          <p:nvPr/>
        </p:nvSpPr>
        <p:spPr>
          <a:xfrm>
            <a:off x="3108960" y="2537460"/>
            <a:ext cx="365760" cy="0"/>
          </a:xfrm>
          <a:prstGeom prst="line">
            <a:avLst/>
          </a:prstGeom>
          <a:noFill/>
          <a:ln w="22225">
            <a:solidFill>
              <a:srgbClr val="8A8A82"/>
            </a:solidFill>
            <a:prstDash val="solid"/>
            <a:tailEnd type="triangle"/>
          </a:ln>
        </p:spPr>
      </p:sp>
      <p:sp>
        <p:nvSpPr>
          <p:cNvPr id="20" name="Shape 18"/>
          <p:cNvSpPr/>
          <p:nvPr/>
        </p:nvSpPr>
        <p:spPr>
          <a:xfrm>
            <a:off x="6035040" y="2537460"/>
            <a:ext cx="365760" cy="0"/>
          </a:xfrm>
          <a:prstGeom prst="line">
            <a:avLst/>
          </a:prstGeom>
          <a:noFill/>
          <a:ln w="22225">
            <a:solidFill>
              <a:srgbClr val="8A8A82"/>
            </a:solidFill>
            <a:prstDash val="solid"/>
            <a:tailEnd type="triangle"/>
          </a:ln>
        </p:spPr>
      </p:sp>
      <p:sp>
        <p:nvSpPr>
          <p:cNvPr id="21" name="Shape 19"/>
          <p:cNvSpPr/>
          <p:nvPr/>
        </p:nvSpPr>
        <p:spPr>
          <a:xfrm>
            <a:off x="8961120" y="2537460"/>
            <a:ext cx="365760" cy="0"/>
          </a:xfrm>
          <a:prstGeom prst="line">
            <a:avLst/>
          </a:prstGeom>
          <a:noFill/>
          <a:ln w="22225">
            <a:solidFill>
              <a:srgbClr val="8A8A82"/>
            </a:solidFill>
            <a:prstDash val="solid"/>
            <a:tailEnd type="triangle"/>
          </a:ln>
        </p:spPr>
      </p:sp>
      <p:sp>
        <p:nvSpPr>
          <p:cNvPr id="22" name="Shape 20"/>
          <p:cNvSpPr/>
          <p:nvPr/>
        </p:nvSpPr>
        <p:spPr>
          <a:xfrm>
            <a:off x="10607040" y="3063240"/>
            <a:ext cx="0" cy="1143000"/>
          </a:xfrm>
          <a:prstGeom prst="line">
            <a:avLst/>
          </a:prstGeom>
          <a:noFill/>
          <a:ln w="22225">
            <a:solidFill>
              <a:srgbClr val="8A8A82"/>
            </a:solidFill>
            <a:prstDash val="solid"/>
            <a:tailEnd type="triangle"/>
          </a:ln>
        </p:spPr>
      </p:sp>
      <p:sp>
        <p:nvSpPr>
          <p:cNvPr id="23" name="Shape 21"/>
          <p:cNvSpPr/>
          <p:nvPr/>
        </p:nvSpPr>
        <p:spPr>
          <a:xfrm>
            <a:off x="9326880" y="4206240"/>
            <a:ext cx="2560320" cy="1051560"/>
          </a:xfrm>
          <a:prstGeom prst="roundRect">
            <a:avLst>
              <a:gd name="adj" fmla="val 6087"/>
            </a:avLst>
          </a:prstGeom>
          <a:solidFill>
            <a:srgbClr val="FDEEEE"/>
          </a:solidFill>
          <a:ln w="15875">
            <a:solidFill>
              <a:srgbClr val="DD1D21"/>
            </a:solidFill>
            <a:prstDash val="solid"/>
          </a:ln>
        </p:spPr>
      </p:sp>
      <p:sp>
        <p:nvSpPr>
          <p:cNvPr id="24" name="Text 22"/>
          <p:cNvSpPr/>
          <p:nvPr/>
        </p:nvSpPr>
        <p:spPr>
          <a:xfrm>
            <a:off x="9326880" y="420624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IT Manager</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Approves</a:t>
            </a:r>
            <a:endParaRPr lang="en-US" sz="1300" dirty="0"/>
          </a:p>
        </p:txBody>
      </p:sp>
      <p:sp>
        <p:nvSpPr>
          <p:cNvPr id="25" name="Shape 23"/>
          <p:cNvSpPr/>
          <p:nvPr/>
        </p:nvSpPr>
        <p:spPr>
          <a:xfrm>
            <a:off x="6400800" y="4206240"/>
            <a:ext cx="2560320" cy="1051560"/>
          </a:xfrm>
          <a:prstGeom prst="roundRect">
            <a:avLst>
              <a:gd name="adj" fmla="val 6087"/>
            </a:avLst>
          </a:prstGeom>
          <a:solidFill>
            <a:srgbClr val="FDEEEE"/>
          </a:solidFill>
          <a:ln w="15875">
            <a:solidFill>
              <a:srgbClr val="DD1D21"/>
            </a:solidFill>
            <a:prstDash val="solid"/>
          </a:ln>
        </p:spPr>
      </p:sp>
      <p:sp>
        <p:nvSpPr>
          <p:cNvPr id="26" name="Text 24"/>
          <p:cNvSpPr/>
          <p:nvPr/>
        </p:nvSpPr>
        <p:spPr>
          <a:xfrm>
            <a:off x="6400800" y="420624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GM</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Approves</a:t>
            </a:r>
            <a:endParaRPr lang="en-US" sz="1300" dirty="0"/>
          </a:p>
        </p:txBody>
      </p:sp>
      <p:sp>
        <p:nvSpPr>
          <p:cNvPr id="27" name="Shape 25"/>
          <p:cNvSpPr/>
          <p:nvPr/>
        </p:nvSpPr>
        <p:spPr>
          <a:xfrm>
            <a:off x="3474720" y="4206240"/>
            <a:ext cx="2560320" cy="1051560"/>
          </a:xfrm>
          <a:prstGeom prst="roundRect">
            <a:avLst>
              <a:gd name="adj" fmla="val 6087"/>
            </a:avLst>
          </a:prstGeom>
          <a:solidFill>
            <a:srgbClr val="FEF7D9"/>
          </a:solidFill>
          <a:ln w="15875">
            <a:solidFill>
              <a:srgbClr val="B58B00"/>
            </a:solidFill>
            <a:prstDash val="solid"/>
          </a:ln>
        </p:spPr>
      </p:sp>
      <p:sp>
        <p:nvSpPr>
          <p:cNvPr id="28" name="Text 26"/>
          <p:cNvSpPr/>
          <p:nvPr/>
        </p:nvSpPr>
        <p:spPr>
          <a:xfrm>
            <a:off x="3474720" y="4206240"/>
            <a:ext cx="2560320" cy="10515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Proceed to CP &amp; procurement</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Continues in Phase 3</a:t>
            </a:r>
            <a:endParaRPr lang="en-US" sz="1300" dirty="0"/>
          </a:p>
        </p:txBody>
      </p:sp>
      <p:sp>
        <p:nvSpPr>
          <p:cNvPr id="29" name="Shape 27"/>
          <p:cNvSpPr/>
          <p:nvPr/>
        </p:nvSpPr>
        <p:spPr>
          <a:xfrm>
            <a:off x="8961120" y="4732020"/>
            <a:ext cx="365760" cy="0"/>
          </a:xfrm>
          <a:prstGeom prst="line">
            <a:avLst/>
          </a:prstGeom>
          <a:noFill/>
          <a:ln w="22225">
            <a:solidFill>
              <a:srgbClr val="8A8A82"/>
            </a:solidFill>
            <a:prstDash val="solid"/>
            <a:headEnd type="triangle"/>
          </a:ln>
        </p:spPr>
      </p:sp>
      <p:sp>
        <p:nvSpPr>
          <p:cNvPr id="30" name="Shape 28"/>
          <p:cNvSpPr/>
          <p:nvPr/>
        </p:nvSpPr>
        <p:spPr>
          <a:xfrm>
            <a:off x="6035040" y="4732020"/>
            <a:ext cx="365760" cy="0"/>
          </a:xfrm>
          <a:prstGeom prst="line">
            <a:avLst/>
          </a:prstGeom>
          <a:noFill/>
          <a:ln w="22225">
            <a:solidFill>
              <a:srgbClr val="8A8A82"/>
            </a:solidFill>
            <a:prstDash val="solid"/>
            <a:headEnd type="triangle"/>
          </a:ln>
        </p:spPr>
      </p:sp>
      <p:pic>
        <p:nvPicPr>
          <p:cNvPr id="31" name="Picture 30">
            <a:extLst>
              <a:ext uri="{FF2B5EF4-FFF2-40B4-BE49-F238E27FC236}">
                <a16:creationId xmlns:a16="http://schemas.microsoft.com/office/drawing/2014/main" id="{B8CCC74B-49E1-E32A-E2BB-9F9FB7FAFE00}"/>
              </a:ext>
            </a:extLst>
          </p:cNvPr>
          <p:cNvPicPr>
            <a:picLocks noChangeAspect="1"/>
          </p:cNvPicPr>
          <p:nvPr/>
        </p:nvPicPr>
        <p:blipFill>
          <a:blip r:embed="rId3"/>
          <a:stretch>
            <a:fillRect/>
          </a:stretch>
        </p:blipFill>
        <p:spPr>
          <a:xfrm>
            <a:off x="11064240" y="5760720"/>
            <a:ext cx="822960" cy="822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lIns="0" tIns="0" rIns="0" bIns="0" rtlCol="0" anchor="ctr"/>
          <a:lstStyle/>
          <a:p>
            <a:pPr marL="0" indent="0">
              <a:buNone/>
            </a:pPr>
            <a:r>
              <a:rPr lang="en-US" sz="3000" dirty="0">
                <a:solidFill>
                  <a:srgbClr val="DD1D21"/>
                </a:solidFill>
                <a:latin typeface="Georgia" pitchFamily="34" charset="0"/>
                <a:ea typeface="Georgia" pitchFamily="34" charset="-122"/>
                <a:cs typeface="Georgia" pitchFamily="34" charset="-120"/>
              </a:rPr>
              <a:t>3  </a:t>
            </a:r>
            <a:r>
              <a:rPr lang="en-US" sz="2600" dirty="0">
                <a:solidFill>
                  <a:srgbClr val="2B2B2B"/>
                </a:solidFill>
                <a:latin typeface="Georgia" pitchFamily="34" charset="0"/>
                <a:ea typeface="Georgia" pitchFamily="34" charset="-122"/>
                <a:cs typeface="Georgia" pitchFamily="34" charset="-120"/>
              </a:rPr>
              <a:t>Quotation routing, CP, PR &amp; PO creation</a:t>
            </a:r>
            <a:endParaRPr lang="en-US" sz="3000" dirty="0"/>
          </a:p>
        </p:txBody>
      </p:sp>
      <p:sp>
        <p:nvSpPr>
          <p:cNvPr id="3" name="Text 1"/>
          <p:cNvSpPr/>
          <p:nvPr/>
        </p:nvSpPr>
        <p:spPr>
          <a:xfrm>
            <a:off x="566928" y="914400"/>
            <a:ext cx="10972800" cy="502920"/>
          </a:xfrm>
          <a:prstGeom prst="rect">
            <a:avLst/>
          </a:prstGeom>
          <a:noFill/>
          <a:ln/>
        </p:spPr>
        <p:txBody>
          <a:bodyPr wrap="square" lIns="0" tIns="0" rIns="0" bIns="0" rtlCol="0" anchor="t"/>
          <a:lstStyle/>
          <a:p>
            <a:pPr marL="0" indent="0">
              <a:buNone/>
            </a:pPr>
            <a:r>
              <a:rPr lang="en-US" sz="1150" dirty="0">
                <a:solidFill>
                  <a:srgbClr val="6B6B6B"/>
                </a:solidFill>
                <a:latin typeface="Calibri" pitchFamily="34" charset="0"/>
                <a:ea typeface="Calibri" pitchFamily="34" charset="-122"/>
                <a:cs typeface="Calibri" pitchFamily="34" charset="-120"/>
              </a:rPr>
              <a:t>Routing branches on the number of quotations: fewer than 3 goes via the CP Manager then Business/CP focal; 3 or more goes directly via the Business/Function CP focal. The Project Engineer completes NDAs, DPA and vendor registration, then GSAP project, PR and PO are created and executed through CP.</a:t>
            </a:r>
            <a:endParaRPr lang="en-US" sz="1150" dirty="0"/>
          </a:p>
        </p:txBody>
      </p:sp>
      <p:sp>
        <p:nvSpPr>
          <p:cNvPr id="4" name="Shape 2"/>
          <p:cNvSpPr/>
          <p:nvPr/>
        </p:nvSpPr>
        <p:spPr>
          <a:xfrm>
            <a:off x="7315200" y="347472"/>
            <a:ext cx="164592" cy="164592"/>
          </a:xfrm>
          <a:prstGeom prst="roundRect">
            <a:avLst>
              <a:gd name="adj" fmla="val 11111"/>
            </a:avLst>
          </a:prstGeom>
          <a:solidFill>
            <a:srgbClr val="F5F5F3"/>
          </a:solidFill>
          <a:ln w="12700">
            <a:solidFill>
              <a:srgbClr val="9A9A92"/>
            </a:solidFill>
            <a:prstDash val="solid"/>
          </a:ln>
        </p:spPr>
      </p:sp>
      <p:sp>
        <p:nvSpPr>
          <p:cNvPr id="5" name="Text 3"/>
          <p:cNvSpPr/>
          <p:nvPr/>
        </p:nvSpPr>
        <p:spPr>
          <a:xfrm>
            <a:off x="753465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Process / system</a:t>
            </a:r>
            <a:endParaRPr lang="en-US" sz="900" dirty="0"/>
          </a:p>
        </p:txBody>
      </p:sp>
      <p:sp>
        <p:nvSpPr>
          <p:cNvPr id="6" name="Shape 4"/>
          <p:cNvSpPr/>
          <p:nvPr/>
        </p:nvSpPr>
        <p:spPr>
          <a:xfrm>
            <a:off x="9052560" y="347472"/>
            <a:ext cx="164592" cy="164592"/>
          </a:xfrm>
          <a:prstGeom prst="roundRect">
            <a:avLst>
              <a:gd name="adj" fmla="val 11111"/>
            </a:avLst>
          </a:prstGeom>
          <a:solidFill>
            <a:srgbClr val="FDEEEE"/>
          </a:solidFill>
          <a:ln w="12700">
            <a:solidFill>
              <a:srgbClr val="DD1D21"/>
            </a:solidFill>
            <a:prstDash val="solid"/>
          </a:ln>
        </p:spPr>
      </p:sp>
      <p:sp>
        <p:nvSpPr>
          <p:cNvPr id="7" name="Text 5"/>
          <p:cNvSpPr/>
          <p:nvPr/>
        </p:nvSpPr>
        <p:spPr>
          <a:xfrm>
            <a:off x="927201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Approval</a:t>
            </a:r>
            <a:endParaRPr lang="en-US" sz="900" dirty="0"/>
          </a:p>
        </p:txBody>
      </p:sp>
      <p:sp>
        <p:nvSpPr>
          <p:cNvPr id="8" name="Shape 6"/>
          <p:cNvSpPr/>
          <p:nvPr/>
        </p:nvSpPr>
        <p:spPr>
          <a:xfrm>
            <a:off x="10469880" y="347472"/>
            <a:ext cx="164592" cy="164592"/>
          </a:xfrm>
          <a:prstGeom prst="roundRect">
            <a:avLst>
              <a:gd name="adj" fmla="val 11111"/>
            </a:avLst>
          </a:prstGeom>
          <a:solidFill>
            <a:srgbClr val="FEF7D9"/>
          </a:solidFill>
          <a:ln w="12700">
            <a:solidFill>
              <a:srgbClr val="B58B00"/>
            </a:solidFill>
            <a:prstDash val="solid"/>
          </a:ln>
        </p:spPr>
      </p:sp>
      <p:sp>
        <p:nvSpPr>
          <p:cNvPr id="9" name="Text 7"/>
          <p:cNvSpPr/>
          <p:nvPr/>
        </p:nvSpPr>
        <p:spPr>
          <a:xfrm>
            <a:off x="1068933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Key role / output</a:t>
            </a:r>
            <a:endParaRPr lang="en-US" sz="900" dirty="0"/>
          </a:p>
        </p:txBody>
      </p:sp>
      <p:sp>
        <p:nvSpPr>
          <p:cNvPr id="10" name="Text 8"/>
          <p:cNvSpPr/>
          <p:nvPr/>
        </p:nvSpPr>
        <p:spPr>
          <a:xfrm>
            <a:off x="548640" y="6510528"/>
            <a:ext cx="11064240" cy="274320"/>
          </a:xfrm>
          <a:prstGeom prst="rect">
            <a:avLst/>
          </a:prstGeom>
          <a:noFill/>
          <a:ln/>
        </p:spPr>
        <p:txBody>
          <a:bodyPr wrap="square" lIns="0" tIns="0" rIns="0" bIns="0" rtlCol="0" anchor="ctr"/>
          <a:lstStyle/>
          <a:p>
            <a:pPr marL="0" indent="0">
              <a:buNone/>
            </a:pPr>
            <a:r>
              <a:rPr lang="en-US" sz="900" dirty="0">
                <a:solidFill>
                  <a:srgbClr val="9A9A92"/>
                </a:solidFill>
                <a:latin typeface="Calibri" pitchFamily="34" charset="0"/>
                <a:ea typeface="Calibri" pitchFamily="34" charset="-122"/>
                <a:cs typeface="Calibri" pitchFamily="34" charset="-120"/>
              </a:rPr>
              <a:t>Shell Oman Marketing  ·  Integrated Enterprise Platform  ·  Prepared by AutomateXion</a:t>
            </a:r>
            <a:endParaRPr lang="en-US" sz="900" dirty="0"/>
          </a:p>
        </p:txBody>
      </p:sp>
      <p:sp>
        <p:nvSpPr>
          <p:cNvPr id="11" name="Shape 9"/>
          <p:cNvSpPr/>
          <p:nvPr/>
        </p:nvSpPr>
        <p:spPr>
          <a:xfrm>
            <a:off x="4709160" y="1600200"/>
            <a:ext cx="2743200" cy="640080"/>
          </a:xfrm>
          <a:prstGeom prst="roundRect">
            <a:avLst>
              <a:gd name="adj" fmla="val 10000"/>
            </a:avLst>
          </a:prstGeom>
          <a:solidFill>
            <a:srgbClr val="F5F5F3"/>
          </a:solidFill>
          <a:ln w="15875">
            <a:solidFill>
              <a:srgbClr val="9A9A92"/>
            </a:solidFill>
            <a:prstDash val="solid"/>
          </a:ln>
        </p:spPr>
      </p:sp>
      <p:sp>
        <p:nvSpPr>
          <p:cNvPr id="12" name="Text 10"/>
          <p:cNvSpPr/>
          <p:nvPr/>
        </p:nvSpPr>
        <p:spPr>
          <a:xfrm>
            <a:off x="4709160" y="1600200"/>
            <a:ext cx="2743200" cy="64008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Quotation received</a:t>
            </a:r>
            <a:endParaRPr lang="en-US" sz="1300" dirty="0"/>
          </a:p>
        </p:txBody>
      </p:sp>
      <p:sp>
        <p:nvSpPr>
          <p:cNvPr id="13" name="Shape 11"/>
          <p:cNvSpPr/>
          <p:nvPr/>
        </p:nvSpPr>
        <p:spPr>
          <a:xfrm>
            <a:off x="6080760" y="2240280"/>
            <a:ext cx="0" cy="228600"/>
          </a:xfrm>
          <a:prstGeom prst="line">
            <a:avLst/>
          </a:prstGeom>
          <a:noFill/>
          <a:ln w="22225">
            <a:solidFill>
              <a:srgbClr val="8A8A82"/>
            </a:solidFill>
            <a:prstDash val="solid"/>
          </a:ln>
        </p:spPr>
      </p:sp>
      <p:sp>
        <p:nvSpPr>
          <p:cNvPr id="14" name="Shape 12"/>
          <p:cNvSpPr/>
          <p:nvPr/>
        </p:nvSpPr>
        <p:spPr>
          <a:xfrm>
            <a:off x="3200400" y="2468880"/>
            <a:ext cx="2880360" cy="0"/>
          </a:xfrm>
          <a:prstGeom prst="line">
            <a:avLst/>
          </a:prstGeom>
          <a:noFill/>
          <a:ln w="22225">
            <a:solidFill>
              <a:srgbClr val="8A8A82"/>
            </a:solidFill>
            <a:prstDash val="solid"/>
          </a:ln>
        </p:spPr>
      </p:sp>
      <p:sp>
        <p:nvSpPr>
          <p:cNvPr id="15" name="Shape 13"/>
          <p:cNvSpPr/>
          <p:nvPr/>
        </p:nvSpPr>
        <p:spPr>
          <a:xfrm>
            <a:off x="6080760" y="2468880"/>
            <a:ext cx="2880360" cy="0"/>
          </a:xfrm>
          <a:prstGeom prst="line">
            <a:avLst/>
          </a:prstGeom>
          <a:noFill/>
          <a:ln w="22225">
            <a:solidFill>
              <a:srgbClr val="8A8A82"/>
            </a:solidFill>
            <a:prstDash val="solid"/>
          </a:ln>
        </p:spPr>
      </p:sp>
      <p:sp>
        <p:nvSpPr>
          <p:cNvPr id="16" name="Shape 14"/>
          <p:cNvSpPr/>
          <p:nvPr/>
        </p:nvSpPr>
        <p:spPr>
          <a:xfrm>
            <a:off x="3200400" y="2468880"/>
            <a:ext cx="0" cy="274320"/>
          </a:xfrm>
          <a:prstGeom prst="line">
            <a:avLst/>
          </a:prstGeom>
          <a:noFill/>
          <a:ln w="22225">
            <a:solidFill>
              <a:srgbClr val="8A8A82"/>
            </a:solidFill>
            <a:prstDash val="solid"/>
            <a:tailEnd type="triangle"/>
          </a:ln>
        </p:spPr>
      </p:sp>
      <p:sp>
        <p:nvSpPr>
          <p:cNvPr id="17" name="Shape 15"/>
          <p:cNvSpPr/>
          <p:nvPr/>
        </p:nvSpPr>
        <p:spPr>
          <a:xfrm>
            <a:off x="8961120" y="2468880"/>
            <a:ext cx="0" cy="274320"/>
          </a:xfrm>
          <a:prstGeom prst="line">
            <a:avLst/>
          </a:prstGeom>
          <a:noFill/>
          <a:ln w="22225">
            <a:solidFill>
              <a:srgbClr val="8A8A82"/>
            </a:solidFill>
            <a:prstDash val="solid"/>
            <a:tailEnd type="triangle"/>
          </a:ln>
        </p:spPr>
      </p:sp>
      <p:sp>
        <p:nvSpPr>
          <p:cNvPr id="18" name="Shape 16"/>
          <p:cNvSpPr/>
          <p:nvPr/>
        </p:nvSpPr>
        <p:spPr>
          <a:xfrm>
            <a:off x="1097280" y="2743200"/>
            <a:ext cx="4206240" cy="914400"/>
          </a:xfrm>
          <a:prstGeom prst="roundRect">
            <a:avLst>
              <a:gd name="adj" fmla="val 7000"/>
            </a:avLst>
          </a:prstGeom>
          <a:solidFill>
            <a:srgbClr val="F5F5F3"/>
          </a:solidFill>
          <a:ln w="15875">
            <a:solidFill>
              <a:srgbClr val="9A9A92"/>
            </a:solidFill>
            <a:prstDash val="solid"/>
          </a:ln>
        </p:spPr>
      </p:sp>
      <p:sp>
        <p:nvSpPr>
          <p:cNvPr id="19" name="Text 17"/>
          <p:cNvSpPr/>
          <p:nvPr/>
        </p:nvSpPr>
        <p:spPr>
          <a:xfrm>
            <a:off x="1097280" y="2743200"/>
            <a:ext cx="4206240" cy="9144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Fewer than 3 quotations</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① CP Manager  →  ② Business / CP focal</a:t>
            </a:r>
            <a:endParaRPr lang="en-US" sz="1300" dirty="0"/>
          </a:p>
        </p:txBody>
      </p:sp>
      <p:sp>
        <p:nvSpPr>
          <p:cNvPr id="20" name="Shape 18"/>
          <p:cNvSpPr/>
          <p:nvPr/>
        </p:nvSpPr>
        <p:spPr>
          <a:xfrm>
            <a:off x="6858000" y="2743200"/>
            <a:ext cx="4206240" cy="914400"/>
          </a:xfrm>
          <a:prstGeom prst="roundRect">
            <a:avLst>
              <a:gd name="adj" fmla="val 7000"/>
            </a:avLst>
          </a:prstGeom>
          <a:solidFill>
            <a:srgbClr val="F5F5F3"/>
          </a:solidFill>
          <a:ln w="15875">
            <a:solidFill>
              <a:srgbClr val="9A9A92"/>
            </a:solidFill>
            <a:prstDash val="solid"/>
          </a:ln>
        </p:spPr>
      </p:sp>
      <p:sp>
        <p:nvSpPr>
          <p:cNvPr id="21" name="Text 19"/>
          <p:cNvSpPr/>
          <p:nvPr/>
        </p:nvSpPr>
        <p:spPr>
          <a:xfrm>
            <a:off x="6858000" y="2743200"/>
            <a:ext cx="4206240" cy="9144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3 or more quotations</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① Business/Function CP focal</a:t>
            </a:r>
            <a:endParaRPr lang="en-US" sz="1300" dirty="0"/>
          </a:p>
        </p:txBody>
      </p:sp>
      <p:sp>
        <p:nvSpPr>
          <p:cNvPr id="22" name="Shape 20"/>
          <p:cNvSpPr/>
          <p:nvPr/>
        </p:nvSpPr>
        <p:spPr>
          <a:xfrm>
            <a:off x="3200400" y="3657600"/>
            <a:ext cx="0" cy="228600"/>
          </a:xfrm>
          <a:prstGeom prst="line">
            <a:avLst/>
          </a:prstGeom>
          <a:noFill/>
          <a:ln w="22225">
            <a:solidFill>
              <a:srgbClr val="8A8A82"/>
            </a:solidFill>
            <a:prstDash val="solid"/>
          </a:ln>
        </p:spPr>
      </p:sp>
      <p:sp>
        <p:nvSpPr>
          <p:cNvPr id="23" name="Shape 21"/>
          <p:cNvSpPr/>
          <p:nvPr/>
        </p:nvSpPr>
        <p:spPr>
          <a:xfrm>
            <a:off x="8961120" y="3657600"/>
            <a:ext cx="0" cy="228600"/>
          </a:xfrm>
          <a:prstGeom prst="line">
            <a:avLst/>
          </a:prstGeom>
          <a:noFill/>
          <a:ln w="22225">
            <a:solidFill>
              <a:srgbClr val="8A8A82"/>
            </a:solidFill>
            <a:prstDash val="solid"/>
          </a:ln>
        </p:spPr>
      </p:sp>
      <p:sp>
        <p:nvSpPr>
          <p:cNvPr id="24" name="Shape 22"/>
          <p:cNvSpPr/>
          <p:nvPr/>
        </p:nvSpPr>
        <p:spPr>
          <a:xfrm>
            <a:off x="3200400" y="3886200"/>
            <a:ext cx="5760720" cy="0"/>
          </a:xfrm>
          <a:prstGeom prst="line">
            <a:avLst/>
          </a:prstGeom>
          <a:noFill/>
          <a:ln w="22225">
            <a:solidFill>
              <a:srgbClr val="8A8A82"/>
            </a:solidFill>
            <a:prstDash val="solid"/>
          </a:ln>
        </p:spPr>
      </p:sp>
      <p:sp>
        <p:nvSpPr>
          <p:cNvPr id="25" name="Shape 23"/>
          <p:cNvSpPr/>
          <p:nvPr/>
        </p:nvSpPr>
        <p:spPr>
          <a:xfrm>
            <a:off x="6080760" y="3886200"/>
            <a:ext cx="0" cy="274320"/>
          </a:xfrm>
          <a:prstGeom prst="line">
            <a:avLst/>
          </a:prstGeom>
          <a:noFill/>
          <a:ln w="22225">
            <a:solidFill>
              <a:srgbClr val="8A8A82"/>
            </a:solidFill>
            <a:prstDash val="solid"/>
            <a:tailEnd type="triangle"/>
          </a:ln>
        </p:spPr>
      </p:sp>
      <p:sp>
        <p:nvSpPr>
          <p:cNvPr id="26" name="Shape 24"/>
          <p:cNvSpPr/>
          <p:nvPr/>
        </p:nvSpPr>
        <p:spPr>
          <a:xfrm>
            <a:off x="4480560" y="4160520"/>
            <a:ext cx="3200400" cy="914400"/>
          </a:xfrm>
          <a:prstGeom prst="roundRect">
            <a:avLst>
              <a:gd name="adj" fmla="val 7000"/>
            </a:avLst>
          </a:prstGeom>
          <a:solidFill>
            <a:srgbClr val="FEF7D9"/>
          </a:solidFill>
          <a:ln w="15875">
            <a:solidFill>
              <a:srgbClr val="B58B00"/>
            </a:solidFill>
            <a:prstDash val="solid"/>
          </a:ln>
        </p:spPr>
      </p:sp>
      <p:sp>
        <p:nvSpPr>
          <p:cNvPr id="27" name="Text 25"/>
          <p:cNvSpPr/>
          <p:nvPr/>
        </p:nvSpPr>
        <p:spPr>
          <a:xfrm>
            <a:off x="4480560" y="4160520"/>
            <a:ext cx="3200400" cy="9144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Project Engineer</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NDAs, DPA, vendor registration, agreements</a:t>
            </a:r>
            <a:endParaRPr lang="en-US" sz="1300" dirty="0"/>
          </a:p>
        </p:txBody>
      </p:sp>
      <p:sp>
        <p:nvSpPr>
          <p:cNvPr id="28" name="Shape 26"/>
          <p:cNvSpPr/>
          <p:nvPr/>
        </p:nvSpPr>
        <p:spPr>
          <a:xfrm>
            <a:off x="6080760" y="5074920"/>
            <a:ext cx="0" cy="182880"/>
          </a:xfrm>
          <a:prstGeom prst="line">
            <a:avLst/>
          </a:prstGeom>
          <a:noFill/>
          <a:ln w="22225">
            <a:solidFill>
              <a:srgbClr val="8A8A82"/>
            </a:solidFill>
            <a:prstDash val="solid"/>
          </a:ln>
        </p:spPr>
      </p:sp>
      <p:sp>
        <p:nvSpPr>
          <p:cNvPr id="29" name="Shape 27"/>
          <p:cNvSpPr/>
          <p:nvPr/>
        </p:nvSpPr>
        <p:spPr>
          <a:xfrm>
            <a:off x="1828800" y="5257800"/>
            <a:ext cx="4251960" cy="0"/>
          </a:xfrm>
          <a:prstGeom prst="line">
            <a:avLst/>
          </a:prstGeom>
          <a:noFill/>
          <a:ln w="22225">
            <a:solidFill>
              <a:srgbClr val="8A8A82"/>
            </a:solidFill>
            <a:prstDash val="solid"/>
          </a:ln>
        </p:spPr>
      </p:sp>
      <p:sp>
        <p:nvSpPr>
          <p:cNvPr id="30" name="Shape 28"/>
          <p:cNvSpPr/>
          <p:nvPr/>
        </p:nvSpPr>
        <p:spPr>
          <a:xfrm>
            <a:off x="1828800" y="5257800"/>
            <a:ext cx="0" cy="228600"/>
          </a:xfrm>
          <a:prstGeom prst="line">
            <a:avLst/>
          </a:prstGeom>
          <a:noFill/>
          <a:ln w="22225">
            <a:solidFill>
              <a:srgbClr val="8A8A82"/>
            </a:solidFill>
            <a:prstDash val="solid"/>
            <a:tailEnd type="triangle"/>
          </a:ln>
        </p:spPr>
      </p:sp>
      <p:sp>
        <p:nvSpPr>
          <p:cNvPr id="31" name="Shape 29"/>
          <p:cNvSpPr/>
          <p:nvPr/>
        </p:nvSpPr>
        <p:spPr>
          <a:xfrm>
            <a:off x="548640" y="5486400"/>
            <a:ext cx="2560320" cy="868680"/>
          </a:xfrm>
          <a:prstGeom prst="roundRect">
            <a:avLst>
              <a:gd name="adj" fmla="val 7368"/>
            </a:avLst>
          </a:prstGeom>
          <a:solidFill>
            <a:srgbClr val="F5F5F3"/>
          </a:solidFill>
          <a:ln w="15875">
            <a:solidFill>
              <a:srgbClr val="9A9A92"/>
            </a:solidFill>
            <a:prstDash val="solid"/>
          </a:ln>
        </p:spPr>
      </p:sp>
      <p:sp>
        <p:nvSpPr>
          <p:cNvPr id="32" name="Text 30"/>
          <p:cNvSpPr/>
          <p:nvPr/>
        </p:nvSpPr>
        <p:spPr>
          <a:xfrm>
            <a:off x="548640" y="5486400"/>
            <a:ext cx="2560320" cy="86868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GSAP project creation</a:t>
            </a:r>
            <a:endParaRPr lang="en-US" sz="1300" dirty="0"/>
          </a:p>
        </p:txBody>
      </p:sp>
      <p:sp>
        <p:nvSpPr>
          <p:cNvPr id="33" name="Shape 31"/>
          <p:cNvSpPr/>
          <p:nvPr/>
        </p:nvSpPr>
        <p:spPr>
          <a:xfrm>
            <a:off x="3474720" y="5486400"/>
            <a:ext cx="2560320" cy="868680"/>
          </a:xfrm>
          <a:prstGeom prst="roundRect">
            <a:avLst>
              <a:gd name="adj" fmla="val 7368"/>
            </a:avLst>
          </a:prstGeom>
          <a:solidFill>
            <a:srgbClr val="F5F5F3"/>
          </a:solidFill>
          <a:ln w="15875">
            <a:solidFill>
              <a:srgbClr val="9A9A92"/>
            </a:solidFill>
            <a:prstDash val="solid"/>
          </a:ln>
        </p:spPr>
      </p:sp>
      <p:sp>
        <p:nvSpPr>
          <p:cNvPr id="34" name="Text 32"/>
          <p:cNvSpPr/>
          <p:nvPr/>
        </p:nvSpPr>
        <p:spPr>
          <a:xfrm>
            <a:off x="3474720" y="5486400"/>
            <a:ext cx="2560320" cy="86868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PR creation</a:t>
            </a:r>
            <a:endParaRPr lang="en-US" sz="1300" dirty="0"/>
          </a:p>
        </p:txBody>
      </p:sp>
      <p:sp>
        <p:nvSpPr>
          <p:cNvPr id="35" name="Shape 33"/>
          <p:cNvSpPr/>
          <p:nvPr/>
        </p:nvSpPr>
        <p:spPr>
          <a:xfrm>
            <a:off x="6400800" y="5486400"/>
            <a:ext cx="2560320" cy="868680"/>
          </a:xfrm>
          <a:prstGeom prst="roundRect">
            <a:avLst>
              <a:gd name="adj" fmla="val 7368"/>
            </a:avLst>
          </a:prstGeom>
          <a:solidFill>
            <a:srgbClr val="F5F5F3"/>
          </a:solidFill>
          <a:ln w="15875">
            <a:solidFill>
              <a:srgbClr val="9A9A92"/>
            </a:solidFill>
            <a:prstDash val="solid"/>
          </a:ln>
        </p:spPr>
      </p:sp>
      <p:sp>
        <p:nvSpPr>
          <p:cNvPr id="36" name="Text 34"/>
          <p:cNvSpPr/>
          <p:nvPr/>
        </p:nvSpPr>
        <p:spPr>
          <a:xfrm>
            <a:off x="6400800" y="5486400"/>
            <a:ext cx="2560320" cy="86868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PO creation</a:t>
            </a:r>
            <a:endParaRPr lang="en-US" sz="1300" dirty="0"/>
          </a:p>
        </p:txBody>
      </p:sp>
      <p:sp>
        <p:nvSpPr>
          <p:cNvPr id="37" name="Shape 35"/>
          <p:cNvSpPr/>
          <p:nvPr/>
        </p:nvSpPr>
        <p:spPr>
          <a:xfrm>
            <a:off x="9326880" y="5486400"/>
            <a:ext cx="2560320" cy="868680"/>
          </a:xfrm>
          <a:prstGeom prst="roundRect">
            <a:avLst>
              <a:gd name="adj" fmla="val 7368"/>
            </a:avLst>
          </a:prstGeom>
          <a:solidFill>
            <a:srgbClr val="FDEEEE"/>
          </a:solidFill>
          <a:ln w="15875">
            <a:solidFill>
              <a:srgbClr val="DD1D21"/>
            </a:solidFill>
            <a:prstDash val="solid"/>
          </a:ln>
        </p:spPr>
      </p:sp>
      <p:sp>
        <p:nvSpPr>
          <p:cNvPr id="38" name="Text 36"/>
          <p:cNvSpPr/>
          <p:nvPr/>
        </p:nvSpPr>
        <p:spPr>
          <a:xfrm>
            <a:off x="9326880" y="5486400"/>
            <a:ext cx="2560320" cy="86868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CP — execution</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PO executed → handover to Project Engineer</a:t>
            </a:r>
            <a:endParaRPr lang="en-US" sz="1300" dirty="0"/>
          </a:p>
        </p:txBody>
      </p:sp>
      <p:sp>
        <p:nvSpPr>
          <p:cNvPr id="39" name="Shape 37"/>
          <p:cNvSpPr/>
          <p:nvPr/>
        </p:nvSpPr>
        <p:spPr>
          <a:xfrm>
            <a:off x="3108960" y="5920740"/>
            <a:ext cx="365760" cy="0"/>
          </a:xfrm>
          <a:prstGeom prst="line">
            <a:avLst/>
          </a:prstGeom>
          <a:noFill/>
          <a:ln w="22225">
            <a:solidFill>
              <a:srgbClr val="8A8A82"/>
            </a:solidFill>
            <a:prstDash val="solid"/>
            <a:tailEnd type="triangle"/>
          </a:ln>
        </p:spPr>
      </p:sp>
      <p:sp>
        <p:nvSpPr>
          <p:cNvPr id="40" name="Shape 38"/>
          <p:cNvSpPr/>
          <p:nvPr/>
        </p:nvSpPr>
        <p:spPr>
          <a:xfrm>
            <a:off x="6035040" y="5920740"/>
            <a:ext cx="365760" cy="0"/>
          </a:xfrm>
          <a:prstGeom prst="line">
            <a:avLst/>
          </a:prstGeom>
          <a:noFill/>
          <a:ln w="22225">
            <a:solidFill>
              <a:srgbClr val="8A8A82"/>
            </a:solidFill>
            <a:prstDash val="solid"/>
            <a:tailEnd type="triangle"/>
          </a:ln>
        </p:spPr>
      </p:sp>
      <p:sp>
        <p:nvSpPr>
          <p:cNvPr id="41" name="Shape 39"/>
          <p:cNvSpPr/>
          <p:nvPr/>
        </p:nvSpPr>
        <p:spPr>
          <a:xfrm>
            <a:off x="8961120" y="5920740"/>
            <a:ext cx="365760" cy="0"/>
          </a:xfrm>
          <a:prstGeom prst="line">
            <a:avLst/>
          </a:prstGeom>
          <a:noFill/>
          <a:ln w="22225">
            <a:solidFill>
              <a:srgbClr val="8A8A82"/>
            </a:solidFill>
            <a:prstDash val="solid"/>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lIns="0" tIns="0" rIns="0" bIns="0" rtlCol="0" anchor="ctr"/>
          <a:lstStyle/>
          <a:p>
            <a:pPr marL="0" indent="0">
              <a:buNone/>
            </a:pPr>
            <a:r>
              <a:rPr lang="en-US" sz="3000" dirty="0">
                <a:solidFill>
                  <a:srgbClr val="DD1D21"/>
                </a:solidFill>
                <a:latin typeface="Georgia" pitchFamily="34" charset="0"/>
                <a:ea typeface="Georgia" pitchFamily="34" charset="-122"/>
                <a:cs typeface="Georgia" pitchFamily="34" charset="-120"/>
              </a:rPr>
              <a:t>4  </a:t>
            </a:r>
            <a:r>
              <a:rPr lang="en-US" sz="2600" dirty="0">
                <a:solidFill>
                  <a:srgbClr val="2B2B2B"/>
                </a:solidFill>
                <a:latin typeface="Georgia" pitchFamily="34" charset="0"/>
                <a:ea typeface="Georgia" pitchFamily="34" charset="-122"/>
                <a:cs typeface="Georgia" pitchFamily="34" charset="-120"/>
              </a:rPr>
              <a:t>Project execution &amp; financial tracking</a:t>
            </a:r>
            <a:endParaRPr lang="en-US" sz="3000" dirty="0"/>
          </a:p>
        </p:txBody>
      </p:sp>
      <p:sp>
        <p:nvSpPr>
          <p:cNvPr id="3" name="Text 1"/>
          <p:cNvSpPr/>
          <p:nvPr/>
        </p:nvSpPr>
        <p:spPr>
          <a:xfrm>
            <a:off x="566928" y="914400"/>
            <a:ext cx="10972800" cy="502920"/>
          </a:xfrm>
          <a:prstGeom prst="rect">
            <a:avLst/>
          </a:prstGeom>
          <a:noFill/>
          <a:ln/>
        </p:spPr>
        <p:txBody>
          <a:bodyPr wrap="square" lIns="0" tIns="0" rIns="0" bIns="0" rtlCol="0" anchor="t"/>
          <a:lstStyle/>
          <a:p>
            <a:pPr marL="0" indent="0">
              <a:buNone/>
            </a:pPr>
            <a:r>
              <a:rPr lang="en-US" sz="1150" dirty="0">
                <a:solidFill>
                  <a:srgbClr val="6B6B6B"/>
                </a:solidFill>
                <a:latin typeface="Calibri" pitchFamily="34" charset="0"/>
                <a:ea typeface="Calibri" pitchFamily="34" charset="-122"/>
                <a:cs typeface="Calibri" pitchFamily="34" charset="-120"/>
              </a:rPr>
              <a:t>Once the PO is uploaded, Project Engineers manage delivery against milestones with stages, timelines and staged payments (~30%). Full projects are tracked across budget, actuals, ROI and savings, with Finance consolidating into the capex form for closure and reporting.</a:t>
            </a:r>
            <a:endParaRPr lang="en-US" sz="1150" dirty="0"/>
          </a:p>
        </p:txBody>
      </p:sp>
      <p:sp>
        <p:nvSpPr>
          <p:cNvPr id="4" name="Shape 2"/>
          <p:cNvSpPr/>
          <p:nvPr/>
        </p:nvSpPr>
        <p:spPr>
          <a:xfrm>
            <a:off x="7315200" y="347472"/>
            <a:ext cx="164592" cy="164592"/>
          </a:xfrm>
          <a:prstGeom prst="roundRect">
            <a:avLst>
              <a:gd name="adj" fmla="val 11111"/>
            </a:avLst>
          </a:prstGeom>
          <a:solidFill>
            <a:srgbClr val="F5F5F3"/>
          </a:solidFill>
          <a:ln w="12700">
            <a:solidFill>
              <a:srgbClr val="9A9A92"/>
            </a:solidFill>
            <a:prstDash val="solid"/>
          </a:ln>
        </p:spPr>
      </p:sp>
      <p:sp>
        <p:nvSpPr>
          <p:cNvPr id="5" name="Text 3"/>
          <p:cNvSpPr/>
          <p:nvPr/>
        </p:nvSpPr>
        <p:spPr>
          <a:xfrm>
            <a:off x="753465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Process / system</a:t>
            </a:r>
            <a:endParaRPr lang="en-US" sz="900" dirty="0"/>
          </a:p>
        </p:txBody>
      </p:sp>
      <p:sp>
        <p:nvSpPr>
          <p:cNvPr id="6" name="Shape 4"/>
          <p:cNvSpPr/>
          <p:nvPr/>
        </p:nvSpPr>
        <p:spPr>
          <a:xfrm>
            <a:off x="9052560" y="347472"/>
            <a:ext cx="164592" cy="164592"/>
          </a:xfrm>
          <a:prstGeom prst="roundRect">
            <a:avLst>
              <a:gd name="adj" fmla="val 11111"/>
            </a:avLst>
          </a:prstGeom>
          <a:solidFill>
            <a:srgbClr val="FDEEEE"/>
          </a:solidFill>
          <a:ln w="12700">
            <a:solidFill>
              <a:srgbClr val="DD1D21"/>
            </a:solidFill>
            <a:prstDash val="solid"/>
          </a:ln>
        </p:spPr>
      </p:sp>
      <p:sp>
        <p:nvSpPr>
          <p:cNvPr id="7" name="Text 5"/>
          <p:cNvSpPr/>
          <p:nvPr/>
        </p:nvSpPr>
        <p:spPr>
          <a:xfrm>
            <a:off x="927201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Approval</a:t>
            </a:r>
            <a:endParaRPr lang="en-US" sz="900" dirty="0"/>
          </a:p>
        </p:txBody>
      </p:sp>
      <p:sp>
        <p:nvSpPr>
          <p:cNvPr id="8" name="Shape 6"/>
          <p:cNvSpPr/>
          <p:nvPr/>
        </p:nvSpPr>
        <p:spPr>
          <a:xfrm>
            <a:off x="10469880" y="347472"/>
            <a:ext cx="164592" cy="164592"/>
          </a:xfrm>
          <a:prstGeom prst="roundRect">
            <a:avLst>
              <a:gd name="adj" fmla="val 11111"/>
            </a:avLst>
          </a:prstGeom>
          <a:solidFill>
            <a:srgbClr val="FEF7D9"/>
          </a:solidFill>
          <a:ln w="12700">
            <a:solidFill>
              <a:srgbClr val="B58B00"/>
            </a:solidFill>
            <a:prstDash val="solid"/>
          </a:ln>
        </p:spPr>
      </p:sp>
      <p:sp>
        <p:nvSpPr>
          <p:cNvPr id="9" name="Text 7"/>
          <p:cNvSpPr/>
          <p:nvPr/>
        </p:nvSpPr>
        <p:spPr>
          <a:xfrm>
            <a:off x="10689336" y="292608"/>
            <a:ext cx="146304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Key role / output</a:t>
            </a:r>
            <a:endParaRPr lang="en-US" sz="900" dirty="0"/>
          </a:p>
        </p:txBody>
      </p:sp>
      <p:sp>
        <p:nvSpPr>
          <p:cNvPr id="10" name="Text 8"/>
          <p:cNvSpPr/>
          <p:nvPr/>
        </p:nvSpPr>
        <p:spPr>
          <a:xfrm>
            <a:off x="548640" y="6510528"/>
            <a:ext cx="11064240" cy="274320"/>
          </a:xfrm>
          <a:prstGeom prst="rect">
            <a:avLst/>
          </a:prstGeom>
          <a:noFill/>
          <a:ln/>
        </p:spPr>
        <p:txBody>
          <a:bodyPr wrap="square" lIns="0" tIns="0" rIns="0" bIns="0" rtlCol="0" anchor="ctr"/>
          <a:lstStyle/>
          <a:p>
            <a:pPr marL="0" indent="0">
              <a:buNone/>
            </a:pPr>
            <a:r>
              <a:rPr lang="en-US" sz="900" dirty="0">
                <a:solidFill>
                  <a:srgbClr val="9A9A92"/>
                </a:solidFill>
                <a:latin typeface="Calibri" pitchFamily="34" charset="0"/>
                <a:ea typeface="Calibri" pitchFamily="34" charset="-122"/>
                <a:cs typeface="Calibri" pitchFamily="34" charset="-120"/>
              </a:rPr>
              <a:t>Shell Oman Marketing  ·  Integrated Enterprise Platform  ·  Prepared by AutomateXion</a:t>
            </a:r>
            <a:endParaRPr lang="en-US" sz="900" dirty="0"/>
          </a:p>
        </p:txBody>
      </p:sp>
      <p:sp>
        <p:nvSpPr>
          <p:cNvPr id="11" name="Shape 9"/>
          <p:cNvSpPr/>
          <p:nvPr/>
        </p:nvSpPr>
        <p:spPr>
          <a:xfrm>
            <a:off x="731520" y="1600200"/>
            <a:ext cx="3017520" cy="822960"/>
          </a:xfrm>
          <a:prstGeom prst="roundRect">
            <a:avLst>
              <a:gd name="adj" fmla="val 7778"/>
            </a:avLst>
          </a:prstGeom>
          <a:solidFill>
            <a:srgbClr val="F5F5F3"/>
          </a:solidFill>
          <a:ln w="15875">
            <a:solidFill>
              <a:srgbClr val="9A9A92"/>
            </a:solidFill>
            <a:prstDash val="solid"/>
          </a:ln>
        </p:spPr>
      </p:sp>
      <p:sp>
        <p:nvSpPr>
          <p:cNvPr id="12" name="Text 10"/>
          <p:cNvSpPr/>
          <p:nvPr/>
        </p:nvSpPr>
        <p:spPr>
          <a:xfrm>
            <a:off x="731520" y="1600200"/>
            <a:ext cx="3017520" cy="8229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PO upload</a:t>
            </a:r>
            <a:endParaRPr lang="en-US" sz="1300" dirty="0"/>
          </a:p>
        </p:txBody>
      </p:sp>
      <p:sp>
        <p:nvSpPr>
          <p:cNvPr id="13" name="Shape 11"/>
          <p:cNvSpPr/>
          <p:nvPr/>
        </p:nvSpPr>
        <p:spPr>
          <a:xfrm>
            <a:off x="4572000" y="1600200"/>
            <a:ext cx="3017520" cy="822960"/>
          </a:xfrm>
          <a:prstGeom prst="roundRect">
            <a:avLst>
              <a:gd name="adj" fmla="val 7778"/>
            </a:avLst>
          </a:prstGeom>
          <a:solidFill>
            <a:srgbClr val="FEF7D9"/>
          </a:solidFill>
          <a:ln w="15875">
            <a:solidFill>
              <a:srgbClr val="B58B00"/>
            </a:solidFill>
            <a:prstDash val="solid"/>
          </a:ln>
        </p:spPr>
      </p:sp>
      <p:sp>
        <p:nvSpPr>
          <p:cNvPr id="14" name="Text 12"/>
          <p:cNvSpPr/>
          <p:nvPr/>
        </p:nvSpPr>
        <p:spPr>
          <a:xfrm>
            <a:off x="4572000" y="1600200"/>
            <a:ext cx="3017520" cy="8229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Project Engineers</a:t>
            </a:r>
            <a:endParaRPr lang="en-US" sz="1300" dirty="0"/>
          </a:p>
        </p:txBody>
      </p:sp>
      <p:sp>
        <p:nvSpPr>
          <p:cNvPr id="15" name="Shape 13"/>
          <p:cNvSpPr/>
          <p:nvPr/>
        </p:nvSpPr>
        <p:spPr>
          <a:xfrm>
            <a:off x="8412480" y="1600200"/>
            <a:ext cx="3017520" cy="822960"/>
          </a:xfrm>
          <a:prstGeom prst="roundRect">
            <a:avLst>
              <a:gd name="adj" fmla="val 7778"/>
            </a:avLst>
          </a:prstGeom>
          <a:solidFill>
            <a:srgbClr val="F5F5F3"/>
          </a:solidFill>
          <a:ln w="15875">
            <a:solidFill>
              <a:srgbClr val="9A9A92"/>
            </a:solidFill>
            <a:prstDash val="solid"/>
          </a:ln>
        </p:spPr>
      </p:sp>
      <p:sp>
        <p:nvSpPr>
          <p:cNvPr id="16" name="Text 14"/>
          <p:cNvSpPr/>
          <p:nvPr/>
        </p:nvSpPr>
        <p:spPr>
          <a:xfrm>
            <a:off x="8412480" y="1600200"/>
            <a:ext cx="3017520" cy="82296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Project milestones</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Stages &amp; timelines · staged payments (~30%)</a:t>
            </a:r>
            <a:endParaRPr lang="en-US" sz="1300" dirty="0"/>
          </a:p>
        </p:txBody>
      </p:sp>
      <p:sp>
        <p:nvSpPr>
          <p:cNvPr id="17" name="Shape 15"/>
          <p:cNvSpPr/>
          <p:nvPr/>
        </p:nvSpPr>
        <p:spPr>
          <a:xfrm>
            <a:off x="3749040" y="2011680"/>
            <a:ext cx="822960" cy="0"/>
          </a:xfrm>
          <a:prstGeom prst="line">
            <a:avLst/>
          </a:prstGeom>
          <a:noFill/>
          <a:ln w="22225">
            <a:solidFill>
              <a:srgbClr val="8A8A82"/>
            </a:solidFill>
            <a:prstDash val="solid"/>
            <a:tailEnd type="triangle"/>
          </a:ln>
        </p:spPr>
      </p:sp>
      <p:sp>
        <p:nvSpPr>
          <p:cNvPr id="18" name="Shape 16"/>
          <p:cNvSpPr/>
          <p:nvPr/>
        </p:nvSpPr>
        <p:spPr>
          <a:xfrm>
            <a:off x="7589520" y="2011680"/>
            <a:ext cx="822960" cy="0"/>
          </a:xfrm>
          <a:prstGeom prst="line">
            <a:avLst/>
          </a:prstGeom>
          <a:noFill/>
          <a:ln w="22225">
            <a:solidFill>
              <a:srgbClr val="8A8A82"/>
            </a:solidFill>
            <a:prstDash val="solid"/>
            <a:tailEnd type="triangle"/>
          </a:ln>
        </p:spPr>
      </p:sp>
      <p:sp>
        <p:nvSpPr>
          <p:cNvPr id="19" name="Shape 17"/>
          <p:cNvSpPr/>
          <p:nvPr/>
        </p:nvSpPr>
        <p:spPr>
          <a:xfrm>
            <a:off x="9921240" y="2423160"/>
            <a:ext cx="0" cy="274320"/>
          </a:xfrm>
          <a:prstGeom prst="line">
            <a:avLst/>
          </a:prstGeom>
          <a:noFill/>
          <a:ln w="22225">
            <a:solidFill>
              <a:srgbClr val="8A8A82"/>
            </a:solidFill>
            <a:prstDash val="solid"/>
          </a:ln>
        </p:spPr>
      </p:sp>
      <p:sp>
        <p:nvSpPr>
          <p:cNvPr id="20" name="Shape 18"/>
          <p:cNvSpPr/>
          <p:nvPr/>
        </p:nvSpPr>
        <p:spPr>
          <a:xfrm>
            <a:off x="6080760" y="2697480"/>
            <a:ext cx="3840480" cy="0"/>
          </a:xfrm>
          <a:prstGeom prst="line">
            <a:avLst/>
          </a:prstGeom>
          <a:noFill/>
          <a:ln w="22225">
            <a:solidFill>
              <a:srgbClr val="8A8A82"/>
            </a:solidFill>
            <a:prstDash val="solid"/>
          </a:ln>
        </p:spPr>
      </p:sp>
      <p:sp>
        <p:nvSpPr>
          <p:cNvPr id="21" name="Shape 19"/>
          <p:cNvSpPr/>
          <p:nvPr/>
        </p:nvSpPr>
        <p:spPr>
          <a:xfrm>
            <a:off x="6080760" y="2697480"/>
            <a:ext cx="0" cy="320040"/>
          </a:xfrm>
          <a:prstGeom prst="line">
            <a:avLst/>
          </a:prstGeom>
          <a:noFill/>
          <a:ln w="22225">
            <a:solidFill>
              <a:srgbClr val="8A8A82"/>
            </a:solidFill>
            <a:prstDash val="solid"/>
            <a:tailEnd type="triangle"/>
          </a:ln>
        </p:spPr>
      </p:sp>
      <p:sp>
        <p:nvSpPr>
          <p:cNvPr id="22" name="Shape 20"/>
          <p:cNvSpPr/>
          <p:nvPr/>
        </p:nvSpPr>
        <p:spPr>
          <a:xfrm>
            <a:off x="731520" y="3017520"/>
            <a:ext cx="10698480" cy="1417320"/>
          </a:xfrm>
          <a:prstGeom prst="roundRect">
            <a:avLst>
              <a:gd name="adj" fmla="val 5806"/>
            </a:avLst>
          </a:prstGeom>
          <a:solidFill>
            <a:srgbClr val="FFFFFF"/>
          </a:solidFill>
          <a:ln w="15875">
            <a:solidFill>
              <a:srgbClr val="B0B0A8"/>
            </a:solidFill>
            <a:prstDash val="dash"/>
          </a:ln>
        </p:spPr>
      </p:sp>
      <p:sp>
        <p:nvSpPr>
          <p:cNvPr id="23" name="Text 21"/>
          <p:cNvSpPr/>
          <p:nvPr/>
        </p:nvSpPr>
        <p:spPr>
          <a:xfrm>
            <a:off x="731520" y="3090672"/>
            <a:ext cx="10698480" cy="274320"/>
          </a:xfrm>
          <a:prstGeom prst="rect">
            <a:avLst/>
          </a:prstGeom>
          <a:noFill/>
          <a:ln/>
        </p:spPr>
        <p:txBody>
          <a:bodyPr wrap="square" lIns="0" tIns="0" rIns="0" bIns="0"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Full-project financial tracking</a:t>
            </a:r>
            <a:endParaRPr lang="en-US" sz="1100" dirty="0"/>
          </a:p>
        </p:txBody>
      </p:sp>
      <p:sp>
        <p:nvSpPr>
          <p:cNvPr id="24" name="Shape 22"/>
          <p:cNvSpPr/>
          <p:nvPr/>
        </p:nvSpPr>
        <p:spPr>
          <a:xfrm>
            <a:off x="914400" y="3520440"/>
            <a:ext cx="2286000" cy="685800"/>
          </a:xfrm>
          <a:prstGeom prst="roundRect">
            <a:avLst>
              <a:gd name="adj" fmla="val 9333"/>
            </a:avLst>
          </a:prstGeom>
          <a:solidFill>
            <a:srgbClr val="F5F5F3"/>
          </a:solidFill>
          <a:ln w="15875">
            <a:solidFill>
              <a:srgbClr val="9A9A92"/>
            </a:solidFill>
            <a:prstDash val="solid"/>
          </a:ln>
        </p:spPr>
      </p:sp>
      <p:sp>
        <p:nvSpPr>
          <p:cNvPr id="25" name="Text 23"/>
          <p:cNvSpPr/>
          <p:nvPr/>
        </p:nvSpPr>
        <p:spPr>
          <a:xfrm>
            <a:off x="914400" y="3520440"/>
            <a:ext cx="2286000" cy="6858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Budget</a:t>
            </a:r>
            <a:endParaRPr lang="en-US" sz="1300" dirty="0"/>
          </a:p>
        </p:txBody>
      </p:sp>
      <p:sp>
        <p:nvSpPr>
          <p:cNvPr id="26" name="Shape 24"/>
          <p:cNvSpPr/>
          <p:nvPr/>
        </p:nvSpPr>
        <p:spPr>
          <a:xfrm>
            <a:off x="3611880" y="3520440"/>
            <a:ext cx="2286000" cy="685800"/>
          </a:xfrm>
          <a:prstGeom prst="roundRect">
            <a:avLst>
              <a:gd name="adj" fmla="val 9333"/>
            </a:avLst>
          </a:prstGeom>
          <a:solidFill>
            <a:srgbClr val="F5F5F3"/>
          </a:solidFill>
          <a:ln w="15875">
            <a:solidFill>
              <a:srgbClr val="9A9A92"/>
            </a:solidFill>
            <a:prstDash val="solid"/>
          </a:ln>
        </p:spPr>
      </p:sp>
      <p:sp>
        <p:nvSpPr>
          <p:cNvPr id="27" name="Text 25"/>
          <p:cNvSpPr/>
          <p:nvPr/>
        </p:nvSpPr>
        <p:spPr>
          <a:xfrm>
            <a:off x="3611880" y="3520440"/>
            <a:ext cx="2286000" cy="6858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Actuals</a:t>
            </a:r>
            <a:endParaRPr lang="en-US" sz="1300" dirty="0"/>
          </a:p>
        </p:txBody>
      </p:sp>
      <p:sp>
        <p:nvSpPr>
          <p:cNvPr id="28" name="Shape 26"/>
          <p:cNvSpPr/>
          <p:nvPr/>
        </p:nvSpPr>
        <p:spPr>
          <a:xfrm>
            <a:off x="6309360" y="3520440"/>
            <a:ext cx="2286000" cy="685800"/>
          </a:xfrm>
          <a:prstGeom prst="roundRect">
            <a:avLst>
              <a:gd name="adj" fmla="val 9333"/>
            </a:avLst>
          </a:prstGeom>
          <a:solidFill>
            <a:srgbClr val="F5F5F3"/>
          </a:solidFill>
          <a:ln w="15875">
            <a:solidFill>
              <a:srgbClr val="9A9A92"/>
            </a:solidFill>
            <a:prstDash val="solid"/>
          </a:ln>
        </p:spPr>
      </p:sp>
      <p:sp>
        <p:nvSpPr>
          <p:cNvPr id="29" name="Text 27"/>
          <p:cNvSpPr/>
          <p:nvPr/>
        </p:nvSpPr>
        <p:spPr>
          <a:xfrm>
            <a:off x="6309360" y="3520440"/>
            <a:ext cx="2286000" cy="6858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ROI</a:t>
            </a:r>
            <a:endParaRPr lang="en-US" sz="1300" dirty="0"/>
          </a:p>
        </p:txBody>
      </p:sp>
      <p:sp>
        <p:nvSpPr>
          <p:cNvPr id="30" name="Shape 28"/>
          <p:cNvSpPr/>
          <p:nvPr/>
        </p:nvSpPr>
        <p:spPr>
          <a:xfrm>
            <a:off x="9006840" y="3520440"/>
            <a:ext cx="2286000" cy="685800"/>
          </a:xfrm>
          <a:prstGeom prst="roundRect">
            <a:avLst>
              <a:gd name="adj" fmla="val 9333"/>
            </a:avLst>
          </a:prstGeom>
          <a:solidFill>
            <a:srgbClr val="F5F5F3"/>
          </a:solidFill>
          <a:ln w="15875">
            <a:solidFill>
              <a:srgbClr val="9A9A92"/>
            </a:solidFill>
            <a:prstDash val="solid"/>
          </a:ln>
        </p:spPr>
      </p:sp>
      <p:sp>
        <p:nvSpPr>
          <p:cNvPr id="31" name="Text 29"/>
          <p:cNvSpPr/>
          <p:nvPr/>
        </p:nvSpPr>
        <p:spPr>
          <a:xfrm>
            <a:off x="9006840" y="3520440"/>
            <a:ext cx="2286000" cy="68580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Savings</a:t>
            </a:r>
            <a:endParaRPr lang="en-US" sz="1300" dirty="0"/>
          </a:p>
        </p:txBody>
      </p:sp>
      <p:sp>
        <p:nvSpPr>
          <p:cNvPr id="32" name="Shape 30"/>
          <p:cNvSpPr/>
          <p:nvPr/>
        </p:nvSpPr>
        <p:spPr>
          <a:xfrm>
            <a:off x="6080760" y="4434840"/>
            <a:ext cx="0" cy="320040"/>
          </a:xfrm>
          <a:prstGeom prst="line">
            <a:avLst/>
          </a:prstGeom>
          <a:noFill/>
          <a:ln w="22225">
            <a:solidFill>
              <a:srgbClr val="8A8A82"/>
            </a:solidFill>
            <a:prstDash val="solid"/>
            <a:tailEnd type="triangle"/>
          </a:ln>
        </p:spPr>
      </p:sp>
      <p:sp>
        <p:nvSpPr>
          <p:cNvPr id="33" name="Shape 31"/>
          <p:cNvSpPr/>
          <p:nvPr/>
        </p:nvSpPr>
        <p:spPr>
          <a:xfrm>
            <a:off x="4709160" y="4754880"/>
            <a:ext cx="2743200" cy="640080"/>
          </a:xfrm>
          <a:prstGeom prst="roundRect">
            <a:avLst>
              <a:gd name="adj" fmla="val 10000"/>
            </a:avLst>
          </a:prstGeom>
          <a:solidFill>
            <a:srgbClr val="FDEEEE"/>
          </a:solidFill>
          <a:ln w="15875">
            <a:solidFill>
              <a:srgbClr val="DD1D21"/>
            </a:solidFill>
            <a:prstDash val="solid"/>
          </a:ln>
        </p:spPr>
      </p:sp>
      <p:sp>
        <p:nvSpPr>
          <p:cNvPr id="34" name="Text 32"/>
          <p:cNvSpPr/>
          <p:nvPr/>
        </p:nvSpPr>
        <p:spPr>
          <a:xfrm>
            <a:off x="4709160" y="4754880"/>
            <a:ext cx="2743200" cy="64008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Finance</a:t>
            </a:r>
            <a:endParaRPr lang="en-US" sz="1300" dirty="0"/>
          </a:p>
        </p:txBody>
      </p:sp>
      <p:sp>
        <p:nvSpPr>
          <p:cNvPr id="35" name="Shape 33"/>
          <p:cNvSpPr/>
          <p:nvPr/>
        </p:nvSpPr>
        <p:spPr>
          <a:xfrm>
            <a:off x="6080760" y="5394960"/>
            <a:ext cx="0" cy="228600"/>
          </a:xfrm>
          <a:prstGeom prst="line">
            <a:avLst/>
          </a:prstGeom>
          <a:noFill/>
          <a:ln w="22225">
            <a:solidFill>
              <a:srgbClr val="8A8A82"/>
            </a:solidFill>
            <a:prstDash val="solid"/>
            <a:tailEnd type="triangle"/>
          </a:ln>
        </p:spPr>
      </p:sp>
      <p:sp>
        <p:nvSpPr>
          <p:cNvPr id="36" name="Shape 34"/>
          <p:cNvSpPr/>
          <p:nvPr/>
        </p:nvSpPr>
        <p:spPr>
          <a:xfrm>
            <a:off x="4480560" y="5623560"/>
            <a:ext cx="3200400" cy="731520"/>
          </a:xfrm>
          <a:prstGeom prst="roundRect">
            <a:avLst>
              <a:gd name="adj" fmla="val 8750"/>
            </a:avLst>
          </a:prstGeom>
          <a:solidFill>
            <a:srgbClr val="FEF7D9"/>
          </a:solidFill>
          <a:ln w="15875">
            <a:solidFill>
              <a:srgbClr val="B58B00"/>
            </a:solidFill>
            <a:prstDash val="solid"/>
          </a:ln>
        </p:spPr>
      </p:sp>
      <p:sp>
        <p:nvSpPr>
          <p:cNvPr id="37" name="Text 35"/>
          <p:cNvSpPr/>
          <p:nvPr/>
        </p:nvSpPr>
        <p:spPr>
          <a:xfrm>
            <a:off x="4480560" y="5623560"/>
            <a:ext cx="3200400" cy="731520"/>
          </a:xfrm>
          <a:prstGeom prst="rect">
            <a:avLst/>
          </a:prstGeom>
          <a:noFill/>
          <a:ln/>
        </p:spPr>
        <p:txBody>
          <a:bodyPr wrap="square" lIns="508" tIns="508" rIns="508" bIns="508"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Capex form</a:t>
            </a:r>
            <a:endParaRPr lang="en-US" sz="1300" dirty="0"/>
          </a:p>
          <a:p>
            <a:pPr marL="0" indent="0" algn="ctr">
              <a:buNone/>
            </a:pPr>
            <a:r>
              <a:rPr lang="en-US" sz="1000" dirty="0">
                <a:solidFill>
                  <a:srgbClr val="6B6B6B"/>
                </a:solidFill>
                <a:latin typeface="Calibri" pitchFamily="34" charset="0"/>
                <a:ea typeface="Calibri" pitchFamily="34" charset="-122"/>
                <a:cs typeface="Calibri" pitchFamily="34" charset="-120"/>
              </a:rPr>
              <a:t>Financial closure &amp; reporting</a:t>
            </a:r>
            <a:endParaRPr lang="en-US" sz="1300" dirty="0"/>
          </a:p>
        </p:txBody>
      </p:sp>
      <p:pic>
        <p:nvPicPr>
          <p:cNvPr id="38" name="Picture 37">
            <a:extLst>
              <a:ext uri="{FF2B5EF4-FFF2-40B4-BE49-F238E27FC236}">
                <a16:creationId xmlns:a16="http://schemas.microsoft.com/office/drawing/2014/main" id="{297F4877-CC37-8F28-6A00-101F3A883D4F}"/>
              </a:ext>
            </a:extLst>
          </p:cNvPr>
          <p:cNvPicPr>
            <a:picLocks noChangeAspect="1"/>
          </p:cNvPicPr>
          <p:nvPr/>
        </p:nvPicPr>
        <p:blipFill>
          <a:blip r:embed="rId3"/>
          <a:stretch>
            <a:fillRect/>
          </a:stretch>
        </p:blipFill>
        <p:spPr>
          <a:xfrm>
            <a:off x="10881360" y="5824728"/>
            <a:ext cx="822960" cy="822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2800" dirty="0">
                <a:solidFill>
                  <a:srgbClr val="2B2B2B"/>
                </a:solidFill>
                <a:latin typeface="Georgia" pitchFamily="34" charset="0"/>
                <a:ea typeface="Georgia" pitchFamily="34" charset="-122"/>
                <a:cs typeface="Georgia" pitchFamily="34" charset="-120"/>
              </a:rPr>
              <a:t>Points to clarify before final documentation</a:t>
            </a:r>
            <a:endParaRPr lang="en-US" sz="2800" dirty="0"/>
          </a:p>
        </p:txBody>
      </p:sp>
      <p:sp>
        <p:nvSpPr>
          <p:cNvPr id="3" name="Shape 1"/>
          <p:cNvSpPr/>
          <p:nvPr/>
        </p:nvSpPr>
        <p:spPr>
          <a:xfrm>
            <a:off x="548640" y="1280160"/>
            <a:ext cx="11064240" cy="4846320"/>
          </a:xfrm>
          <a:prstGeom prst="roundRect">
            <a:avLst>
              <a:gd name="adj" fmla="val 1887"/>
            </a:avLst>
          </a:prstGeom>
          <a:solidFill>
            <a:srgbClr val="FEF7D9"/>
          </a:solidFill>
          <a:ln w="12700">
            <a:solidFill>
              <a:srgbClr val="E8D27A"/>
            </a:solidFill>
            <a:prstDash val="solid"/>
          </a:ln>
        </p:spPr>
      </p:sp>
      <p:sp>
        <p:nvSpPr>
          <p:cNvPr id="4" name="Text 2"/>
          <p:cNvSpPr/>
          <p:nvPr/>
        </p:nvSpPr>
        <p:spPr>
          <a:xfrm>
            <a:off x="914400" y="1554480"/>
            <a:ext cx="10332720" cy="4389120"/>
          </a:xfrm>
          <a:prstGeom prst="rect">
            <a:avLst/>
          </a:prstGeom>
          <a:noFill/>
          <a:ln/>
        </p:spPr>
        <p:txBody>
          <a:bodyPr wrap="square" lIns="0" tIns="0" rIns="0" bIns="0" rtlCol="0" anchor="t"/>
          <a:lstStyle/>
          <a:p>
            <a:pPr marL="342900" indent="-342900">
              <a:buSzPct val="100000"/>
              <a:buChar char="•"/>
            </a:pPr>
            <a:r>
              <a:rPr lang="en-US" sz="1300" b="1" dirty="0">
                <a:solidFill>
                  <a:srgbClr val="2B2B2B"/>
                </a:solidFill>
                <a:latin typeface="Calibri" pitchFamily="34" charset="0"/>
                <a:ea typeface="Calibri" pitchFamily="34" charset="-122"/>
                <a:cs typeface="Calibri" pitchFamily="34" charset="-120"/>
              </a:rPr>
              <a:t>OMR 250K notation</a:t>
            </a:r>
            <a:r>
              <a:rPr lang="en-US" sz="1300" dirty="0">
                <a:solidFill>
                  <a:srgbClr val="2B2B2B"/>
                </a:solidFill>
                <a:latin typeface="Calibri" pitchFamily="34" charset="0"/>
                <a:ea typeface="Calibri" pitchFamily="34" charset="-122"/>
                <a:cs typeface="Calibri" pitchFamily="34" charset="-120"/>
              </a:rPr>
              <a:t> — appears on the allocation board; likely the high-value capex threshold. The approval route for capex above OMR 25,000 was not captured — confirm the delegation-of-authority matrix for medium and high-value tiers.</a:t>
            </a:r>
            <a:endParaRPr lang="en-US" sz="1300" dirty="0"/>
          </a:p>
          <a:p>
            <a:pPr marL="342900" indent="-342900">
              <a:buSzPct val="100000"/>
              <a:buChar char="•"/>
            </a:pPr>
            <a:r>
              <a:rPr lang="en-US" sz="1300" b="1" dirty="0">
                <a:solidFill>
                  <a:srgbClr val="2B2B2B"/>
                </a:solidFill>
                <a:latin typeface="Calibri" pitchFamily="34" charset="0"/>
                <a:ea typeface="Calibri" pitchFamily="34" charset="-122"/>
                <a:cs typeface="Calibri" pitchFamily="34" charset="-120"/>
              </a:rPr>
              <a:t>Green annotation “25,000 → 30% / OMR”</a:t>
            </a:r>
            <a:r>
              <a:rPr lang="en-US" sz="1300" dirty="0">
                <a:solidFill>
                  <a:srgbClr val="2B2B2B"/>
                </a:solidFill>
                <a:latin typeface="Calibri" pitchFamily="34" charset="0"/>
                <a:ea typeface="Calibri" pitchFamily="34" charset="-122"/>
                <a:cs typeface="Calibri" pitchFamily="34" charset="-120"/>
              </a:rPr>
              <a:t> — near the milestones section; presumed to indicate staged-payment percentages tied to milestones. Confirm the exact payment-stage rules.</a:t>
            </a:r>
            <a:endParaRPr lang="en-US" sz="1300" dirty="0"/>
          </a:p>
          <a:p>
            <a:pPr marL="342900" indent="-342900">
              <a:buSzPct val="100000"/>
              <a:buChar char="•"/>
            </a:pPr>
            <a:r>
              <a:rPr lang="en-US" sz="1300" b="1" dirty="0">
                <a:solidFill>
                  <a:srgbClr val="2B2B2B"/>
                </a:solidFill>
                <a:latin typeface="Calibri" pitchFamily="34" charset="0"/>
                <a:ea typeface="Calibri" pitchFamily="34" charset="-122"/>
                <a:cs typeface="Calibri" pitchFamily="34" charset="-120"/>
              </a:rPr>
              <a:t>Right edge of the PO-upload board is cut off</a:t>
            </a:r>
            <a:r>
              <a:rPr lang="en-US" sz="1300" dirty="0">
                <a:solidFill>
                  <a:srgbClr val="2B2B2B"/>
                </a:solidFill>
                <a:latin typeface="Calibri" pitchFamily="34" charset="0"/>
                <a:ea typeface="Calibri" pitchFamily="34" charset="-122"/>
                <a:cs typeface="Calibri" pitchFamily="34" charset="-120"/>
              </a:rPr>
              <a:t> (text beginning “GS…”, “VO…”, “D…”) — likely GSAP and vendor-related references. Confirm what was written there.</a:t>
            </a:r>
            <a:endParaRPr lang="en-US" sz="1300" dirty="0"/>
          </a:p>
          <a:p>
            <a:pPr marL="342900" indent="-342900">
              <a:buSzPct val="100000"/>
              <a:buChar char="•"/>
            </a:pPr>
            <a:r>
              <a:rPr lang="en-US" sz="1300" b="1" dirty="0">
                <a:solidFill>
                  <a:srgbClr val="2B2B2B"/>
                </a:solidFill>
                <a:latin typeface="Calibri" pitchFamily="34" charset="0"/>
                <a:ea typeface="Calibri" pitchFamily="34" charset="-122"/>
                <a:cs typeface="Calibri" pitchFamily="34" charset="-120"/>
              </a:rPr>
              <a:t>HSSE + worker welfare (minimum 3)</a:t>
            </a:r>
            <a:r>
              <a:rPr lang="en-US" sz="1300" dirty="0">
                <a:solidFill>
                  <a:srgbClr val="2B2B2B"/>
                </a:solidFill>
                <a:latin typeface="Calibri" pitchFamily="34" charset="0"/>
                <a:ea typeface="Calibri" pitchFamily="34" charset="-122"/>
                <a:cs typeface="Calibri" pitchFamily="34" charset="-120"/>
              </a:rPr>
              <a:t> — confirm whether “minimum 3” refers to the quotation count or to compliance checks per vendor.</a:t>
            </a:r>
            <a:endParaRPr lang="en-US" sz="1300" dirty="0"/>
          </a:p>
          <a:p>
            <a:pPr marL="342900" indent="-342900">
              <a:buSzPct val="100000"/>
              <a:buChar char="•"/>
            </a:pPr>
            <a:r>
              <a:rPr lang="en-US" sz="1300" b="1" dirty="0">
                <a:solidFill>
                  <a:srgbClr val="2B2B2B"/>
                </a:solidFill>
                <a:latin typeface="Calibri" pitchFamily="34" charset="0"/>
                <a:ea typeface="Calibri" pitchFamily="34" charset="-122"/>
                <a:cs typeface="Calibri" pitchFamily="34" charset="-120"/>
              </a:rPr>
              <a:t>Board meeting in October</a:t>
            </a:r>
            <a:r>
              <a:rPr lang="en-US" sz="1300" dirty="0">
                <a:solidFill>
                  <a:srgbClr val="2B2B2B"/>
                </a:solidFill>
                <a:latin typeface="Calibri" pitchFamily="34" charset="0"/>
                <a:ea typeface="Calibri" pitchFamily="34" charset="-122"/>
                <a:cs typeface="Calibri" pitchFamily="34" charset="-120"/>
              </a:rPr>
              <a:t> — assumed to be the standard annual cycle; confirm whether mid-year capex re-approvals follow the same route.</a:t>
            </a:r>
            <a:endParaRPr lang="en-US" sz="1300" dirty="0"/>
          </a:p>
        </p:txBody>
      </p:sp>
      <p:sp>
        <p:nvSpPr>
          <p:cNvPr id="5" name="Text 3"/>
          <p:cNvSpPr/>
          <p:nvPr/>
        </p:nvSpPr>
        <p:spPr>
          <a:xfrm>
            <a:off x="548640" y="6510528"/>
            <a:ext cx="11064240" cy="274320"/>
          </a:xfrm>
          <a:prstGeom prst="rect">
            <a:avLst/>
          </a:prstGeom>
          <a:noFill/>
          <a:ln/>
        </p:spPr>
        <p:txBody>
          <a:bodyPr wrap="square" lIns="0" tIns="0" rIns="0" bIns="0" rtlCol="0" anchor="ctr"/>
          <a:lstStyle/>
          <a:p>
            <a:pPr marL="0" indent="0">
              <a:buNone/>
            </a:pPr>
            <a:r>
              <a:rPr lang="en-US" sz="900" dirty="0">
                <a:solidFill>
                  <a:srgbClr val="9A9A92"/>
                </a:solidFill>
                <a:latin typeface="Calibri" pitchFamily="34" charset="0"/>
                <a:ea typeface="Calibri" pitchFamily="34" charset="-122"/>
                <a:cs typeface="Calibri" pitchFamily="34" charset="-120"/>
              </a:rPr>
              <a:t>Shell Oman Marketing  ·  Integrated Enterprise Platform  ·  Prepared by AutomateXion</a:t>
            </a:r>
            <a:endParaRPr lang="en-US" sz="900" dirty="0"/>
          </a:p>
        </p:txBody>
      </p:sp>
      <p:pic>
        <p:nvPicPr>
          <p:cNvPr id="6" name="Picture 5">
            <a:extLst>
              <a:ext uri="{FF2B5EF4-FFF2-40B4-BE49-F238E27FC236}">
                <a16:creationId xmlns:a16="http://schemas.microsoft.com/office/drawing/2014/main" id="{7564BDFB-E2E3-3373-946E-2D9D66134F07}"/>
              </a:ext>
            </a:extLst>
          </p:cNvPr>
          <p:cNvPicPr>
            <a:picLocks noChangeAspect="1"/>
          </p:cNvPicPr>
          <p:nvPr/>
        </p:nvPicPr>
        <p:blipFill>
          <a:blip r:embed="rId3"/>
          <a:stretch>
            <a:fillRect/>
          </a:stretch>
        </p:blipFill>
        <p:spPr>
          <a:xfrm>
            <a:off x="5684520" y="5313073"/>
            <a:ext cx="82296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836</Words>
  <Application>Microsoft Office PowerPoint</Application>
  <PresentationFormat>Widescreen</PresentationFormat>
  <Paragraphs>109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Capex &amp; Purchase Request Process Map - Shell Oman Marketing</dc:title>
  <dc:subject>PptxGenJS Presentation</dc:subject>
  <dc:creator>AutomateXion</dc:creator>
  <cp:lastModifiedBy>5846@slsm.edu.om</cp:lastModifiedBy>
  <cp:revision>2</cp:revision>
  <dcterms:created xsi:type="dcterms:W3CDTF">2026-06-11T19:22:10Z</dcterms:created>
  <dcterms:modified xsi:type="dcterms:W3CDTF">2026-06-11T19:31:37Z</dcterms:modified>
</cp:coreProperties>
</file>